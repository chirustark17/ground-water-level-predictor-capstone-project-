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C48780-F014-44FA-B2E4-FBF1F190DE3F}">
  <a:tblStyle styleId="{4AC48780-F014-44FA-B2E4-FBF1F190DE3F}"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95" name="Google Shape;9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01" name="Google Shape;10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3f6de60d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3a3f6de60d8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3f6de60d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a3f6de60d8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3f6de60d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a3f6de60d8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3f6de60d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a3f6de60d8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3f6de60d8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a3f6de60d8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3f6de60d8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a3f6de60d8_0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3f6de60d8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a3f6de60d8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3f6de60d8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a3f6de60d8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3f6de60d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a3f6de60d8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3f6de60d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a3f6de60d8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3f6de60d8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3a3f6de60d8_0_1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3f6de60d8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a3f6de60d8_0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3f6de60d8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3a3f6de60d8_0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3f6de60d8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a3f6de60d8_0_1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3f6de60d8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a3f6de60d8_0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3f6de60d8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a3f6de60d8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3f6de60d8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3a3f6de60d8_0_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3f6de60d8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a3f6de60d8_0_2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a3f6de60d8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a3f6de60d8_0_2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a3f6de60d8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3a3f6de60d8_0_2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3f6de60d8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g3a3f6de60d8_0_2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a3f6de60d8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3a3f6de60d8_0_2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a3f6de60d8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a3f6de60d8_0_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a3f6de60d8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3a3f6de60d8_0_2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3f6de60d8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3a3f6de60d8_0_2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300" name="Google Shape;30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308" name="Google Shape;30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5" name="Shape 25"/>
        <p:cNvGrpSpPr/>
        <p:nvPr/>
      </p:nvGrpSpPr>
      <p:grpSpPr>
        <a:xfrm>
          <a:off x="0" y="0"/>
          <a:ext cx="0" cy="0"/>
          <a:chOff x="0" y="0"/>
          <a:chExt cx="0" cy="0"/>
        </a:xfrm>
      </p:grpSpPr>
      <p:sp>
        <p:nvSpPr>
          <p:cNvPr id="26" name="Google Shape;26;p4"/>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p:nvPr>
            <p:ph idx="2" type="pic"/>
          </p:nvPr>
        </p:nvSpPr>
        <p:spPr>
          <a:xfrm>
            <a:off x="2389717" y="612775"/>
            <a:ext cx="7315200" cy="4114800"/>
          </a:xfrm>
          <a:prstGeom prst="rect">
            <a:avLst/>
          </a:prstGeom>
          <a:noFill/>
          <a:ln>
            <a:noFill/>
          </a:ln>
        </p:spPr>
      </p:sp>
      <p:sp>
        <p:nvSpPr>
          <p:cNvPr id="28" name="Google Shape;28;p4"/>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9" name="Google Shape;29;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5"/>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6"/>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2" name="Google Shape;42;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7"/>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7"/>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 name="Google Shape;49;p7"/>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0" name="Google Shape;50;p7"/>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1" name="Google Shape;51;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8"/>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descr="C:\Users\AMMU\Desktop\Border.png" id="59" name="Google Shape;59;p8"/>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7" name="Google Shape;67;p10"/>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github.com/chirustark17/Ground-Water-Level-Predictor-CAPSTONE-PROJECT-"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2898"/>
          </a:xfrm>
          <a:prstGeom prst="rect">
            <a:avLst/>
          </a:prstGeom>
          <a:noFill/>
          <a:ln>
            <a:noFill/>
          </a:ln>
        </p:spPr>
        <p:txBody>
          <a:bodyPr anchorCtr="0" anchor="ctr" bIns="45700" lIns="91425" spcFirstLastPara="1" rIns="91425" wrap="square" tIns="45700">
            <a:noAutofit/>
          </a:bodyPr>
          <a:lstStyle/>
          <a:p>
            <a:pPr indent="0" lvl="0" marL="0" rtl="0" algn="l">
              <a:lnSpc>
                <a:spcPct val="130000"/>
              </a:lnSpc>
              <a:spcBef>
                <a:spcPts val="0"/>
              </a:spcBef>
              <a:spcAft>
                <a:spcPts val="0"/>
              </a:spcAft>
              <a:buClr>
                <a:schemeClr val="dk1"/>
              </a:buClr>
              <a:buSzPts val="3300"/>
              <a:buFont typeface="Arial"/>
              <a:buNone/>
            </a:pPr>
            <a:r>
              <a:rPr lang="en-US" sz="3300">
                <a:solidFill>
                  <a:schemeClr val="dk1"/>
                </a:solidFill>
                <a:latin typeface="Arial"/>
                <a:ea typeface="Arial"/>
                <a:cs typeface="Arial"/>
                <a:sym typeface="Arial"/>
              </a:rPr>
              <a:t>A Machine Learning-Based Groundwater Level Predictor for Sustainable Water Management</a:t>
            </a:r>
            <a:endParaRPr/>
          </a:p>
        </p:txBody>
      </p:sp>
      <p:sp>
        <p:nvSpPr>
          <p:cNvPr id="88" name="Google Shape;88;p13"/>
          <p:cNvSpPr txBox="1"/>
          <p:nvPr>
            <p:ph idx="1" type="subTitle"/>
          </p:nvPr>
        </p:nvSpPr>
        <p:spPr>
          <a:xfrm>
            <a:off x="790468" y="2045352"/>
            <a:ext cx="4391131" cy="552300"/>
          </a:xfrm>
          <a:prstGeom prst="rect">
            <a:avLst/>
          </a:prstGeom>
          <a:noFill/>
          <a:ln>
            <a:noFill/>
          </a:ln>
        </p:spPr>
        <p:txBody>
          <a:bodyPr anchorCtr="0" anchor="t" bIns="45700" lIns="91425" spcFirstLastPara="1" rIns="91425" wrap="square" tIns="45700">
            <a:normAutofit/>
          </a:bodyPr>
          <a:lstStyle/>
          <a:p>
            <a:pPr indent="0" lvl="1" marL="914400" rtl="0" algn="l">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a:t>
            </a:r>
            <a:r>
              <a:rPr lang="en-US" sz="1800">
                <a:solidFill>
                  <a:schemeClr val="dk1"/>
                </a:solidFill>
                <a:latin typeface="Cambria"/>
                <a:ea typeface="Cambria"/>
                <a:cs typeface="Cambria"/>
                <a:sym typeface="Cambria"/>
              </a:rPr>
              <a:t>PSCS_327</a:t>
            </a:r>
            <a:endParaRPr sz="1800">
              <a:latin typeface="Cambria"/>
              <a:ea typeface="Cambria"/>
              <a:cs typeface="Cambria"/>
              <a:sym typeface="Cambria"/>
            </a:endParaRPr>
          </a:p>
        </p:txBody>
      </p:sp>
      <p:sp>
        <p:nvSpPr>
          <p:cNvPr id="89" name="Google Shape;89;p13"/>
          <p:cNvSpPr txBox="1"/>
          <p:nvPr/>
        </p:nvSpPr>
        <p:spPr>
          <a:xfrm>
            <a:off x="6480195" y="2513340"/>
            <a:ext cx="5514300" cy="202056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US" sz="1800" u="none" cap="none" strike="noStrike">
                <a:solidFill>
                  <a:srgbClr val="17365D"/>
                </a:solidFill>
                <a:latin typeface="Cambria"/>
                <a:ea typeface="Cambria"/>
                <a:cs typeface="Cambria"/>
                <a:sym typeface="Cambria"/>
              </a:rPr>
              <a:t>Under the Supervision of, </a:t>
            </a:r>
            <a:endParaRPr b="1" i="0" sz="1800" u="none" cap="none" strike="noStrike">
              <a:solidFill>
                <a:srgbClr val="17365D"/>
              </a:solidFill>
              <a:latin typeface="Cambria"/>
              <a:ea typeface="Cambria"/>
              <a:cs typeface="Cambria"/>
              <a:sym typeface="Cambria"/>
            </a:endParaRPr>
          </a:p>
          <a:p>
            <a:pPr indent="0" lvl="0" marL="0" marR="0" rtl="0" algn="ctr">
              <a:lnSpc>
                <a:spcPct val="100000"/>
              </a:lnSpc>
              <a:spcBef>
                <a:spcPts val="0"/>
              </a:spcBef>
              <a:spcAft>
                <a:spcPts val="0"/>
              </a:spcAft>
              <a:buClr>
                <a:srgbClr val="17365D"/>
              </a:buClr>
              <a:buSzPts val="2000"/>
              <a:buFont typeface="Arial"/>
              <a:buNone/>
            </a:pPr>
            <a:r>
              <a:rPr b="0" i="0" lang="en-US" sz="1800" u="none" cap="none" strike="noStrike">
                <a:solidFill>
                  <a:srgbClr val="000000"/>
                </a:solidFill>
                <a:latin typeface="Cambria"/>
                <a:ea typeface="Cambria"/>
                <a:cs typeface="Cambria"/>
                <a:sym typeface="Cambria"/>
              </a:rPr>
              <a:t>Dr. Yamanappa </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0"/>
              </a:spcBef>
              <a:spcAft>
                <a:spcPts val="0"/>
              </a:spcAft>
              <a:buClr>
                <a:srgbClr val="17365D"/>
              </a:buClr>
              <a:buSzPts val="2000"/>
              <a:buFont typeface="Arial"/>
              <a:buNone/>
            </a:pPr>
            <a:r>
              <a:rPr b="1" i="0" lang="en-US" sz="1700" u="none" cap="none" strike="noStrike">
                <a:solidFill>
                  <a:srgbClr val="17365D"/>
                </a:solidFill>
                <a:latin typeface="Cambria"/>
                <a:ea typeface="Cambria"/>
                <a:cs typeface="Cambria"/>
                <a:sym typeface="Cambria"/>
              </a:rPr>
              <a:t>Assistant Professor</a:t>
            </a:r>
            <a:endParaRPr b="1" i="0" sz="1700" u="none" cap="none" strike="noStrike">
              <a:solidFill>
                <a:srgbClr val="17365D"/>
              </a:solidFill>
              <a:latin typeface="Cambria"/>
              <a:ea typeface="Cambria"/>
              <a:cs typeface="Cambria"/>
              <a:sym typeface="Cambria"/>
            </a:endParaRPr>
          </a:p>
          <a:p>
            <a:pPr indent="457200" lvl="0" marL="0" marR="0" rtl="0" algn="ctr">
              <a:lnSpc>
                <a:spcPct val="100000"/>
              </a:lnSpc>
              <a:spcBef>
                <a:spcPts val="0"/>
              </a:spcBef>
              <a:spcAft>
                <a:spcPts val="0"/>
              </a:spcAft>
              <a:buClr>
                <a:srgbClr val="17365D"/>
              </a:buClr>
              <a:buSzPts val="2000"/>
              <a:buFont typeface="Arial"/>
              <a:buNone/>
            </a:pPr>
            <a:r>
              <a:rPr b="1" i="0" lang="en-US" sz="1700" u="none" cap="none" strike="noStrike">
                <a:solidFill>
                  <a:srgbClr val="17365D"/>
                </a:solidFill>
                <a:latin typeface="Cambria"/>
                <a:ea typeface="Cambria"/>
                <a:cs typeface="Cambria"/>
                <a:sym typeface="Cambria"/>
              </a:rPr>
              <a:t>School of Computer Science and Engineering</a:t>
            </a:r>
            <a:endParaRPr b="0" i="0" sz="1400" u="none" cap="none" strike="noStrike">
              <a:solidFill>
                <a:srgbClr val="000000"/>
              </a:solidFill>
              <a:latin typeface="Cambria"/>
              <a:ea typeface="Cambria"/>
              <a:cs typeface="Cambria"/>
              <a:sym typeface="Cambria"/>
            </a:endParaRPr>
          </a:p>
          <a:p>
            <a:pPr indent="0" lvl="0" marL="1371600" marR="0" rtl="0" algn="l">
              <a:lnSpc>
                <a:spcPct val="100000"/>
              </a:lnSpc>
              <a:spcBef>
                <a:spcPts val="340"/>
              </a:spcBef>
              <a:spcAft>
                <a:spcPts val="0"/>
              </a:spcAft>
              <a:buClr>
                <a:srgbClr val="17365D"/>
              </a:buClr>
              <a:buSzPts val="1700"/>
              <a:buFont typeface="Arial"/>
              <a:buNone/>
            </a:pPr>
            <a:r>
              <a:rPr b="1" lang="en-US" sz="1700">
                <a:solidFill>
                  <a:srgbClr val="17365D"/>
                </a:solidFill>
                <a:latin typeface="Cambria"/>
                <a:ea typeface="Cambria"/>
                <a:cs typeface="Cambria"/>
                <a:sym typeface="Cambria"/>
              </a:rPr>
              <a:t>     </a:t>
            </a:r>
            <a:r>
              <a:rPr b="1" i="0" lang="en-US" sz="1700" u="none" cap="none" strike="noStrike">
                <a:solidFill>
                  <a:srgbClr val="17365D"/>
                </a:solidFill>
                <a:latin typeface="Cambria"/>
                <a:ea typeface="Cambria"/>
                <a:cs typeface="Cambria"/>
                <a:sym typeface="Cambria"/>
              </a:rPr>
              <a:t>Presidency University</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553347" y="2721840"/>
          <a:ext cx="3000000" cy="3000000"/>
        </p:xfrm>
        <a:graphic>
          <a:graphicData uri="http://schemas.openxmlformats.org/drawingml/2006/table">
            <a:tbl>
              <a:tblPr bandRow="1" firstRow="1">
                <a:noFill/>
                <a:tableStyleId>{4AC48780-F014-44FA-B2E4-FBF1F190DE3F}</a:tableStyleId>
              </a:tblPr>
              <a:tblGrid>
                <a:gridCol w="2085000"/>
                <a:gridCol w="3333675"/>
              </a:tblGrid>
              <a:tr h="306250">
                <a:tc>
                  <a:txBody>
                    <a:bodyPr/>
                    <a:lstStyle/>
                    <a:p>
                      <a:pPr indent="0" lvl="1"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ambria"/>
                          <a:ea typeface="Cambria"/>
                          <a:cs typeface="Cambria"/>
                          <a:sym typeface="Cambria"/>
                        </a:rPr>
                        <a:t>20221CSD0134</a:t>
                      </a:r>
                      <a:endParaRPr sz="1800" u="none" cap="none" strike="noStrike">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ambria"/>
                          <a:ea typeface="Cambria"/>
                          <a:cs typeface="Cambria"/>
                          <a:sym typeface="Cambria"/>
                        </a:rPr>
                        <a:t>20221CSD0117</a:t>
                      </a:r>
                      <a:endParaRPr sz="1800" u="none" cap="none" strike="noStrike"/>
                    </a:p>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ambria"/>
                          <a:ea typeface="Cambria"/>
                          <a:cs typeface="Cambria"/>
                          <a:sym typeface="Cambria"/>
                        </a:rPr>
                        <a:t>20221CSD0133</a:t>
                      </a:r>
                      <a:endParaRPr sz="1800" u="none" cap="none" strike="noStrike">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800"/>
                        <a:buFont typeface="Arial"/>
                        <a:buNone/>
                      </a:pPr>
                      <a:r>
                        <a:rPr lang="en-US" sz="1800" u="none" cap="none" strike="noStrike"/>
                        <a:t>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ambria"/>
                          <a:ea typeface="Cambria"/>
                          <a:cs typeface="Cambria"/>
                          <a:sym typeface="Cambria"/>
                        </a:rPr>
                        <a:t>Chirag K S  </a:t>
                      </a:r>
                      <a:endParaRPr sz="1800" u="none" cap="none" strike="noStrike">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ambria"/>
                          <a:ea typeface="Cambria"/>
                          <a:cs typeface="Cambria"/>
                          <a:sym typeface="Cambria"/>
                        </a:rPr>
                        <a:t>Shreyas V</a:t>
                      </a:r>
                      <a:endParaRPr sz="1800" u="none" cap="none" strike="noStrike">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ambria"/>
                          <a:ea typeface="Cambria"/>
                          <a:cs typeface="Cambria"/>
                          <a:sym typeface="Cambria"/>
                        </a:rPr>
                        <a:t>Arjun Athrey</a:t>
                      </a:r>
                      <a:endParaRPr sz="1800" u="none" cap="none" strike="noStrike">
                        <a:latin typeface="Cambria"/>
                        <a:ea typeface="Cambria"/>
                        <a:cs typeface="Cambria"/>
                        <a:sym typeface="Cambria"/>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6"/>
            <a:ext cx="5499000" cy="451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CSE7101- Capstone Project</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0" y="4533900"/>
            <a:ext cx="12249915"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Program: </a:t>
            </a:r>
            <a:r>
              <a:rPr b="1" i="0" lang="en-US" sz="1800" u="none" cap="none" strike="noStrike">
                <a:solidFill>
                  <a:schemeClr val="dk1"/>
                </a:solidFill>
                <a:latin typeface="Cambria"/>
                <a:ea typeface="Cambria"/>
                <a:cs typeface="Cambria"/>
                <a:sym typeface="Cambria"/>
              </a:rPr>
              <a:t>B.Tech</a:t>
            </a:r>
            <a:endParaRPr b="1" i="0" sz="1800" u="none" cap="none" strike="noStrike">
              <a:solidFill>
                <a:schemeClr val="dk1"/>
              </a:solidFill>
              <a:latin typeface="Cambria"/>
              <a:ea typeface="Cambria"/>
              <a:cs typeface="Cambria"/>
              <a:sym typeface="Cambria"/>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HoD: </a:t>
            </a:r>
            <a:r>
              <a:rPr b="1" i="0" lang="en-US" sz="1800" u="none" cap="none" strike="noStrike">
                <a:solidFill>
                  <a:schemeClr val="dk1"/>
                </a:solidFill>
                <a:latin typeface="Cambria"/>
                <a:ea typeface="Cambria"/>
                <a:cs typeface="Cambria"/>
                <a:sym typeface="Cambria"/>
              </a:rPr>
              <a:t>Dr. Pravinthraja S</a:t>
            </a:r>
            <a:endParaRPr b="1" i="0" sz="1800" u="none" cap="none" strike="noStrike">
              <a:solidFill>
                <a:schemeClr val="dk1"/>
              </a:solidFill>
              <a:latin typeface="Cambria"/>
              <a:ea typeface="Cambria"/>
              <a:cs typeface="Cambria"/>
              <a:sym typeface="Cambria"/>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Program Project Coordinator: </a:t>
            </a:r>
            <a:r>
              <a:rPr b="1" i="0" lang="en-US" sz="1800" u="none" cap="none" strike="noStrike">
                <a:solidFill>
                  <a:srgbClr val="FF0000"/>
                </a:solidFill>
                <a:latin typeface="Cambria"/>
                <a:ea typeface="Cambria"/>
                <a:cs typeface="Cambria"/>
                <a:sym typeface="Cambria"/>
              </a:rPr>
              <a:t> </a:t>
            </a:r>
            <a:r>
              <a:rPr b="1" i="0" lang="en-US" sz="1800" u="none" cap="none" strike="noStrike">
                <a:solidFill>
                  <a:schemeClr val="dk1"/>
                </a:solidFill>
                <a:latin typeface="Cambria"/>
                <a:ea typeface="Cambria"/>
                <a:cs typeface="Cambria"/>
                <a:sym typeface="Cambria"/>
              </a:rPr>
              <a:t>Dr. H M Manjula</a:t>
            </a:r>
            <a:endParaRPr b="1" i="0" sz="1800" u="none" cap="none" strike="noStrike">
              <a:solidFill>
                <a:schemeClr val="dk1"/>
              </a:solidFill>
              <a:latin typeface="Cambria"/>
              <a:ea typeface="Cambria"/>
              <a:cs typeface="Cambria"/>
              <a:sym typeface="Cambria"/>
            </a:endParaRPr>
          </a:p>
          <a:p>
            <a:pPr indent="0" lvl="0" marL="0" marR="0" rtl="0" algn="l">
              <a:lnSpc>
                <a:spcPct val="100000"/>
              </a:lnSpc>
              <a:spcBef>
                <a:spcPts val="0"/>
              </a:spcBef>
              <a:spcAft>
                <a:spcPts val="0"/>
              </a:spcAft>
              <a:buNone/>
            </a:pPr>
            <a:r>
              <a:rPr b="1" i="0" lang="en-US" sz="1800" u="none" cap="none" strike="noStrike">
                <a:solidFill>
                  <a:schemeClr val="accent1"/>
                </a:solidFill>
                <a:latin typeface="Cambria"/>
                <a:ea typeface="Cambria"/>
                <a:cs typeface="Cambria"/>
                <a:sym typeface="Cambria"/>
              </a:rPr>
              <a:t>Name of the School Project Coordinators: </a:t>
            </a:r>
            <a:r>
              <a:rPr b="1" i="0" lang="en-US" sz="1800" u="none" cap="none" strike="noStrike">
                <a:solidFill>
                  <a:schemeClr val="dk1"/>
                </a:solidFill>
                <a:latin typeface="Cambria"/>
                <a:ea typeface="Cambria"/>
                <a:cs typeface="Cambria"/>
                <a:sym typeface="Cambria"/>
              </a:rPr>
              <a:t>Dr. Sampath A K , Dr. Geetha A </a:t>
            </a:r>
            <a:endParaRPr b="1" i="0" sz="1800" u="none" cap="none" strike="noStrike">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PSCS 327</a:t>
            </a:r>
            <a:endParaRPr>
              <a:latin typeface="Cambria"/>
              <a:ea typeface="Cambria"/>
              <a:cs typeface="Cambria"/>
              <a:sym typeface="Cambria"/>
            </a:endParaRPr>
          </a:p>
        </p:txBody>
      </p:sp>
      <p:sp>
        <p:nvSpPr>
          <p:cNvPr id="98" name="Google Shape;98;p1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00000"/>
              </a:lnSpc>
              <a:spcBef>
                <a:spcPts val="0"/>
              </a:spcBef>
              <a:spcAft>
                <a:spcPts val="0"/>
              </a:spcAft>
              <a:buSzPts val="2400"/>
              <a:buNone/>
            </a:pPr>
            <a:r>
              <a:rPr b="1" lang="en-US" sz="1600">
                <a:latin typeface="Cambria"/>
                <a:ea typeface="Cambria"/>
                <a:cs typeface="Cambria"/>
                <a:sym typeface="Cambria"/>
              </a:rPr>
              <a:t>Organization</a:t>
            </a:r>
            <a:r>
              <a:rPr lang="en-US" sz="1600">
                <a:latin typeface="Cambria"/>
                <a:ea typeface="Cambria"/>
                <a:cs typeface="Cambria"/>
                <a:sym typeface="Cambria"/>
              </a:rPr>
              <a:t>:</a:t>
            </a:r>
            <a:r>
              <a:rPr b="1" lang="en-US" sz="1600">
                <a:latin typeface="Cambria"/>
                <a:ea typeface="Cambria"/>
                <a:cs typeface="Cambria"/>
                <a:sym typeface="Cambria"/>
              </a:rPr>
              <a:t>Ministry of Jal Shakti</a:t>
            </a:r>
            <a:endParaRPr b="1" sz="1600">
              <a:latin typeface="Cambria"/>
              <a:ea typeface="Cambria"/>
              <a:cs typeface="Cambria"/>
              <a:sym typeface="Cambria"/>
            </a:endParaRPr>
          </a:p>
          <a:p>
            <a:pPr indent="-190500" lvl="0" marL="342900" rtl="0" algn="just">
              <a:lnSpc>
                <a:spcPct val="100000"/>
              </a:lnSpc>
              <a:spcBef>
                <a:spcPts val="0"/>
              </a:spcBef>
              <a:spcAft>
                <a:spcPts val="0"/>
              </a:spcAft>
              <a:buSzPts val="2400"/>
              <a:buNone/>
            </a:pPr>
            <a:r>
              <a:t/>
            </a:r>
            <a:endParaRPr b="1" sz="1600">
              <a:latin typeface="Cambria"/>
              <a:ea typeface="Cambria"/>
              <a:cs typeface="Cambria"/>
              <a:sym typeface="Cambria"/>
            </a:endParaRPr>
          </a:p>
          <a:p>
            <a:pPr indent="-190500" lvl="0" marL="342900" rtl="0" algn="just">
              <a:lnSpc>
                <a:spcPct val="100000"/>
              </a:lnSpc>
              <a:spcBef>
                <a:spcPts val="0"/>
              </a:spcBef>
              <a:spcAft>
                <a:spcPts val="0"/>
              </a:spcAft>
              <a:buSzPts val="2400"/>
              <a:buNone/>
            </a:pPr>
            <a:r>
              <a:rPr b="1" lang="en-US" sz="1600">
                <a:latin typeface="Cambria"/>
                <a:ea typeface="Cambria"/>
                <a:cs typeface="Cambria"/>
                <a:sym typeface="Cambria"/>
              </a:rPr>
              <a:t>Category</a:t>
            </a:r>
            <a:r>
              <a:rPr lang="en-US" sz="1600">
                <a:latin typeface="Cambria"/>
                <a:ea typeface="Cambria"/>
                <a:cs typeface="Cambria"/>
                <a:sym typeface="Cambria"/>
              </a:rPr>
              <a:t> (Hardware / Software / Both) :Software </a:t>
            </a:r>
            <a:endParaRPr sz="1600">
              <a:latin typeface="Cambria"/>
              <a:ea typeface="Cambria"/>
              <a:cs typeface="Cambria"/>
              <a:sym typeface="Cambria"/>
            </a:endParaRPr>
          </a:p>
          <a:p>
            <a:pPr indent="-190500" lvl="0" marL="342900" rtl="0" algn="just">
              <a:lnSpc>
                <a:spcPct val="200000"/>
              </a:lnSpc>
              <a:spcBef>
                <a:spcPts val="0"/>
              </a:spcBef>
              <a:spcAft>
                <a:spcPts val="0"/>
              </a:spcAft>
              <a:buSzPts val="2400"/>
              <a:buNone/>
            </a:pPr>
            <a:r>
              <a:rPr b="1" lang="en-US" sz="1600">
                <a:latin typeface="Cambria"/>
                <a:ea typeface="Cambria"/>
                <a:cs typeface="Cambria"/>
                <a:sym typeface="Cambria"/>
              </a:rPr>
              <a:t>Problem Description</a:t>
            </a:r>
            <a:r>
              <a:rPr lang="en-US" sz="1600">
                <a:latin typeface="Cambria"/>
                <a:ea typeface="Cambria"/>
                <a:cs typeface="Cambria"/>
                <a:sym typeface="Cambria"/>
              </a:rPr>
              <a:t>:</a:t>
            </a:r>
            <a:r>
              <a:rPr lang="en-US" sz="1300">
                <a:latin typeface="Cambria"/>
                <a:ea typeface="Cambria"/>
                <a:cs typeface="Cambria"/>
                <a:sym typeface="Cambria"/>
              </a:rPr>
              <a:t> Groundwater Level is the cardinal parameter that best describes the health of an Aquifer. Long term groundwater level data acquired through regular monitoring of groundwater levels provide an opportunity to understand the behavior of the aquifers to changing stress regime. Central Ground Water Board periodically monitors ground water levels from nearly 26000 wells. CGWB is also in the process of installing Digital Water Level Recorders (DWLRs) across various parts of </a:t>
            </a:r>
            <a:r>
              <a:rPr lang="en-US" sz="1300">
                <a:latin typeface="Cambria"/>
                <a:ea typeface="Cambria"/>
                <a:cs typeface="Cambria"/>
                <a:sym typeface="Cambria"/>
              </a:rPr>
              <a:t>India Each</a:t>
            </a:r>
            <a:r>
              <a:rPr lang="en-US" sz="1300">
                <a:latin typeface="Cambria"/>
                <a:ea typeface="Cambria"/>
                <a:cs typeface="Cambria"/>
                <a:sym typeface="Cambria"/>
              </a:rPr>
              <a:t> capturing and transmitting water level data four times per day. In addition to CGWB there are many other agencies measuring water levels. The software application is expected to analyse groundwater levels and factors impacting groundwater level like rainfall, hydrogeology, </a:t>
            </a:r>
            <a:r>
              <a:rPr lang="en-US" sz="1300">
                <a:latin typeface="Cambria"/>
                <a:ea typeface="Cambria"/>
                <a:cs typeface="Cambria"/>
                <a:sym typeface="Cambria"/>
              </a:rPr>
              <a:t>land use</a:t>
            </a:r>
            <a:r>
              <a:rPr lang="en-US" sz="1300">
                <a:latin typeface="Cambria"/>
                <a:ea typeface="Cambria"/>
                <a:cs typeface="Cambria"/>
                <a:sym typeface="Cambria"/>
              </a:rPr>
              <a:t>, population, surface elevation, natural features, tidal cycles etc. Based on these factors and based on observed water level data, the software application should be able to predict and forecast groundwater levels both in space and time. The application will be accessible to all for predicting groundwater level at any place at any point on time. This will also help in filling data gaps in time-series data.</a:t>
            </a:r>
            <a:endParaRPr sz="1300">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04" name="Google Shape;104;p15"/>
          <p:cNvSpPr txBox="1"/>
          <p:nvPr>
            <p:ph idx="1" type="body"/>
          </p:nvPr>
        </p:nvSpPr>
        <p:spPr>
          <a:xfrm>
            <a:off x="812800" y="889000"/>
            <a:ext cx="11113200" cy="5149200"/>
          </a:xfrm>
          <a:prstGeom prst="rect">
            <a:avLst/>
          </a:prstGeom>
          <a:noFill/>
          <a:ln>
            <a:noFill/>
          </a:ln>
        </p:spPr>
        <p:txBody>
          <a:bodyPr anchorCtr="0" anchor="t" bIns="45700" lIns="91425" spcFirstLastPara="1" rIns="91425" wrap="square" tIns="45700">
            <a:normAutofit/>
          </a:bodyPr>
          <a:lstStyle/>
          <a:p>
            <a:pPr indent="-381000" lvl="0" marL="457200" rtl="0" algn="just">
              <a:lnSpc>
                <a:spcPct val="200000"/>
              </a:lnSpc>
              <a:spcBef>
                <a:spcPts val="0"/>
              </a:spcBef>
              <a:spcAft>
                <a:spcPts val="0"/>
              </a:spcAft>
              <a:buSzPts val="2400"/>
              <a:buFont typeface="Cambria"/>
              <a:buAutoNum type="arabicPeriod"/>
            </a:pPr>
            <a:r>
              <a:rPr b="1" lang="en-US">
                <a:latin typeface="Cambria"/>
                <a:ea typeface="Cambria"/>
                <a:cs typeface="Cambria"/>
                <a:sym typeface="Cambria"/>
              </a:rPr>
              <a:t>Framing the Crisis</a:t>
            </a:r>
            <a:endParaRPr b="1">
              <a:latin typeface="Cambria"/>
              <a:ea typeface="Cambria"/>
              <a:cs typeface="Cambria"/>
              <a:sym typeface="Cambria"/>
            </a:endParaRPr>
          </a:p>
          <a:p>
            <a:pPr indent="-381000" lvl="0" marL="457200" rtl="0" algn="just">
              <a:lnSpc>
                <a:spcPct val="200000"/>
              </a:lnSpc>
              <a:spcBef>
                <a:spcPts val="0"/>
              </a:spcBef>
              <a:spcAft>
                <a:spcPts val="0"/>
              </a:spcAft>
              <a:buSzPts val="2400"/>
              <a:buFont typeface="Cambria"/>
              <a:buAutoNum type="arabicPeriod"/>
            </a:pPr>
            <a:r>
              <a:rPr b="1" lang="en-US">
                <a:latin typeface="Cambria"/>
                <a:ea typeface="Cambria"/>
                <a:cs typeface="Cambria"/>
                <a:sym typeface="Cambria"/>
              </a:rPr>
              <a:t>Knowledge Foundation</a:t>
            </a:r>
            <a:endParaRPr b="1">
              <a:latin typeface="Cambria"/>
              <a:ea typeface="Cambria"/>
              <a:cs typeface="Cambria"/>
              <a:sym typeface="Cambria"/>
            </a:endParaRPr>
          </a:p>
          <a:p>
            <a:pPr indent="-381000" lvl="0" marL="457200" rtl="0" algn="just">
              <a:lnSpc>
                <a:spcPct val="200000"/>
              </a:lnSpc>
              <a:spcBef>
                <a:spcPts val="0"/>
              </a:spcBef>
              <a:spcAft>
                <a:spcPts val="0"/>
              </a:spcAft>
              <a:buSzPts val="2400"/>
              <a:buFont typeface="Cambria"/>
              <a:buAutoNum type="arabicPeriod"/>
            </a:pPr>
            <a:r>
              <a:rPr b="1" lang="en-US">
                <a:latin typeface="Cambria"/>
                <a:ea typeface="Cambria"/>
                <a:cs typeface="Cambria"/>
                <a:sym typeface="Cambria"/>
              </a:rPr>
              <a:t>End-to-End Methodology</a:t>
            </a:r>
            <a:endParaRPr b="1">
              <a:latin typeface="Cambria"/>
              <a:ea typeface="Cambria"/>
              <a:cs typeface="Cambria"/>
              <a:sym typeface="Cambria"/>
            </a:endParaRPr>
          </a:p>
          <a:p>
            <a:pPr indent="-381000" lvl="0" marL="457200" rtl="0" algn="just">
              <a:lnSpc>
                <a:spcPct val="200000"/>
              </a:lnSpc>
              <a:spcBef>
                <a:spcPts val="0"/>
              </a:spcBef>
              <a:spcAft>
                <a:spcPts val="0"/>
              </a:spcAft>
              <a:buSzPts val="2400"/>
              <a:buFont typeface="Cambria"/>
              <a:buAutoNum type="arabicPeriod"/>
            </a:pPr>
            <a:r>
              <a:rPr b="1" lang="en-US">
                <a:latin typeface="Cambria"/>
                <a:ea typeface="Cambria"/>
                <a:cs typeface="Cambria"/>
                <a:sym typeface="Cambria"/>
              </a:rPr>
              <a:t>Results &amp; Insights</a:t>
            </a:r>
            <a:endParaRPr b="1">
              <a:latin typeface="Cambria"/>
              <a:ea typeface="Cambria"/>
              <a:cs typeface="Cambria"/>
              <a:sym typeface="Cambria"/>
            </a:endParaRPr>
          </a:p>
          <a:p>
            <a:pPr indent="-381000" lvl="0" marL="457200" rtl="0" algn="just">
              <a:lnSpc>
                <a:spcPct val="200000"/>
              </a:lnSpc>
              <a:spcBef>
                <a:spcPts val="0"/>
              </a:spcBef>
              <a:spcAft>
                <a:spcPts val="0"/>
              </a:spcAft>
              <a:buSzPts val="2400"/>
              <a:buFont typeface="Cambria"/>
              <a:buAutoNum type="arabicPeriod"/>
            </a:pPr>
            <a:r>
              <a:rPr b="1" lang="en-US">
                <a:latin typeface="Cambria"/>
                <a:ea typeface="Cambria"/>
                <a:cs typeface="Cambria"/>
                <a:sym typeface="Cambria"/>
              </a:rPr>
              <a:t>Dashboard &amp; Real-World Use</a:t>
            </a:r>
            <a:endParaRPr b="1">
              <a:latin typeface="Cambria"/>
              <a:ea typeface="Cambria"/>
              <a:cs typeface="Cambria"/>
              <a:sym typeface="Cambria"/>
            </a:endParaRPr>
          </a:p>
          <a:p>
            <a:pPr indent="-381000" lvl="0" marL="457200" rtl="0" algn="just">
              <a:lnSpc>
                <a:spcPct val="200000"/>
              </a:lnSpc>
              <a:spcBef>
                <a:spcPts val="0"/>
              </a:spcBef>
              <a:spcAft>
                <a:spcPts val="0"/>
              </a:spcAft>
              <a:buSzPts val="2400"/>
              <a:buFont typeface="Cambria"/>
              <a:buAutoNum type="arabicPeriod"/>
            </a:pPr>
            <a:r>
              <a:rPr b="1" lang="en-US">
                <a:latin typeface="Cambria"/>
                <a:ea typeface="Cambria"/>
                <a:cs typeface="Cambria"/>
                <a:sym typeface="Cambria"/>
              </a:rPr>
              <a:t>Limitations &amp; Roadmap</a:t>
            </a:r>
            <a:endParaRPr b="1">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3901051" y="3037975"/>
            <a:ext cx="4389900" cy="487500"/>
          </a:xfrm>
          <a:prstGeom prst="rect">
            <a:avLst/>
          </a:prstGeom>
          <a:noFill/>
          <a:ln>
            <a:noFill/>
          </a:ln>
        </p:spPr>
        <p:txBody>
          <a:bodyPr anchorCtr="0" anchor="ctr" bIns="45700" lIns="91425" spcFirstLastPara="1" rIns="91425" wrap="square" tIns="45700">
            <a:noAutofit/>
          </a:bodyPr>
          <a:lstStyle/>
          <a:p>
            <a:pPr indent="-406400" lvl="0" marL="457200" rtl="0" algn="l">
              <a:lnSpc>
                <a:spcPct val="100000"/>
              </a:lnSpc>
              <a:spcBef>
                <a:spcPts val="0"/>
              </a:spcBef>
              <a:spcAft>
                <a:spcPts val="0"/>
              </a:spcAft>
              <a:buSzPts val="2800"/>
              <a:buAutoNum type="arabicPeriod"/>
            </a:pPr>
            <a:r>
              <a:rPr lang="en-US"/>
              <a:t>Framing the Crisis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Introduction</a:t>
            </a:r>
            <a:endParaRPr/>
          </a:p>
        </p:txBody>
      </p:sp>
      <p:sp>
        <p:nvSpPr>
          <p:cNvPr id="115" name="Google Shape;115;p17"/>
          <p:cNvSpPr txBox="1"/>
          <p:nvPr>
            <p:ph idx="1" type="body"/>
          </p:nvPr>
        </p:nvSpPr>
        <p:spPr>
          <a:xfrm>
            <a:off x="267950" y="2272625"/>
            <a:ext cx="6165000" cy="3344700"/>
          </a:xfrm>
          <a:prstGeom prst="rect">
            <a:avLst/>
          </a:prstGeom>
          <a:noFill/>
          <a:ln>
            <a:noFill/>
          </a:ln>
        </p:spPr>
        <p:txBody>
          <a:bodyPr anchorCtr="0" anchor="t" bIns="45700" lIns="91425" spcFirstLastPara="1" rIns="91425" wrap="square" tIns="45700">
            <a:normAutofit/>
          </a:bodyPr>
          <a:lstStyle/>
          <a:p>
            <a:pPr indent="0" lvl="0" marL="76200" rtl="0" algn="just">
              <a:lnSpc>
                <a:spcPct val="115000"/>
              </a:lnSpc>
              <a:spcBef>
                <a:spcPts val="480"/>
              </a:spcBef>
              <a:spcAft>
                <a:spcPts val="0"/>
              </a:spcAft>
              <a:buSzPts val="2400"/>
              <a:buNone/>
            </a:pPr>
            <a:r>
              <a:rPr lang="en-US"/>
              <a:t>Groundwater serves as Karnataka's primary water source, crucial for both agriculture and drinking. However, rapid depletion due to over-extraction and climate variability poses significant challenges.</a:t>
            </a:r>
            <a:endParaRPr/>
          </a:p>
        </p:txBody>
      </p:sp>
      <p:sp>
        <p:nvSpPr>
          <p:cNvPr id="116" name="Google Shape;116;p17"/>
          <p:cNvSpPr txBox="1"/>
          <p:nvPr/>
        </p:nvSpPr>
        <p:spPr>
          <a:xfrm>
            <a:off x="6711050" y="2272625"/>
            <a:ext cx="5123100" cy="3344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400">
                <a:solidFill>
                  <a:schemeClr val="dk1"/>
                </a:solidFill>
                <a:latin typeface="Verdana"/>
                <a:ea typeface="Verdana"/>
                <a:cs typeface="Verdana"/>
                <a:sym typeface="Verdana"/>
              </a:rPr>
              <a:t>Current manual monitoring is slow and sparse, lacking forecasting tools. This project aims to build an ML model and dashboard to predict groundwater levels, supporting sustainable management.</a:t>
            </a:r>
            <a:endParaRPr sz="2400">
              <a:solidFill>
                <a:schemeClr val="dk1"/>
              </a:solidFill>
              <a:latin typeface="Verdana"/>
              <a:ea typeface="Verdana"/>
              <a:cs typeface="Verdana"/>
              <a:sym typeface="Verdana"/>
            </a:endParaRPr>
          </a:p>
        </p:txBody>
      </p:sp>
      <p:sp>
        <p:nvSpPr>
          <p:cNvPr id="117" name="Google Shape;117;p17"/>
          <p:cNvSpPr txBox="1"/>
          <p:nvPr/>
        </p:nvSpPr>
        <p:spPr>
          <a:xfrm>
            <a:off x="812700" y="1220775"/>
            <a:ext cx="5225100" cy="7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Verdana"/>
                <a:ea typeface="Verdana"/>
                <a:cs typeface="Verdana"/>
                <a:sym typeface="Verdana"/>
              </a:rPr>
              <a:t>Groundwater Importance</a:t>
            </a:r>
            <a:endParaRPr sz="2400">
              <a:solidFill>
                <a:schemeClr val="dk1"/>
              </a:solidFill>
              <a:latin typeface="Verdana"/>
              <a:ea typeface="Verdana"/>
              <a:cs typeface="Verdana"/>
              <a:sym typeface="Verdana"/>
            </a:endParaRPr>
          </a:p>
        </p:txBody>
      </p:sp>
      <p:sp>
        <p:nvSpPr>
          <p:cNvPr id="118" name="Google Shape;118;p17"/>
          <p:cNvSpPr txBox="1"/>
          <p:nvPr/>
        </p:nvSpPr>
        <p:spPr>
          <a:xfrm>
            <a:off x="6680750" y="1220775"/>
            <a:ext cx="5225100" cy="7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Verdana"/>
                <a:ea typeface="Verdana"/>
                <a:cs typeface="Verdana"/>
                <a:sym typeface="Verdana"/>
              </a:rPr>
              <a:t>Need for Prediction</a:t>
            </a:r>
            <a:endParaRPr sz="2400">
              <a:solidFill>
                <a:schemeClr val="dk1"/>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txBox="1"/>
          <p:nvPr>
            <p:ph type="title"/>
          </p:nvPr>
        </p:nvSpPr>
        <p:spPr>
          <a:xfrm>
            <a:off x="3901050" y="3037975"/>
            <a:ext cx="55659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2.  </a:t>
            </a:r>
            <a:r>
              <a:rPr lang="en-US"/>
              <a:t>Knowledge Foundation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Problem Statement</a:t>
            </a:r>
            <a:endParaRPr/>
          </a:p>
        </p:txBody>
      </p:sp>
      <p:sp>
        <p:nvSpPr>
          <p:cNvPr id="129" name="Google Shape;129;p19"/>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381000" lvl="0" marL="457200" rtl="0" algn="just">
              <a:lnSpc>
                <a:spcPct val="100000"/>
              </a:lnSpc>
              <a:spcBef>
                <a:spcPts val="480"/>
              </a:spcBef>
              <a:spcAft>
                <a:spcPts val="0"/>
              </a:spcAft>
              <a:buSzPts val="2400"/>
              <a:buAutoNum type="arabicPeriod"/>
            </a:pPr>
            <a:r>
              <a:rPr lang="en-US"/>
              <a:t>Manual Monitoring Limitations: Manual groundwater monitoring is slow and sparse, failing to provide timely data. This hampers effective management and planning.</a:t>
            </a:r>
            <a:br>
              <a:rPr lang="en-US"/>
            </a:br>
            <a:endParaRPr/>
          </a:p>
          <a:p>
            <a:pPr indent="-381000" lvl="0" marL="457200" rtl="0" algn="just">
              <a:lnSpc>
                <a:spcPct val="100000"/>
              </a:lnSpc>
              <a:spcBef>
                <a:spcPts val="0"/>
              </a:spcBef>
              <a:spcAft>
                <a:spcPts val="0"/>
              </a:spcAft>
              <a:buSzPts val="2400"/>
              <a:buAutoNum type="arabicPeriod"/>
            </a:pPr>
            <a:r>
              <a:rPr lang="en-US"/>
              <a:t>Lack of Forecasting Tools:No forecasting tools are available for districts or taluks, leaving policymakers and farmers unable to anticipate groundwater shortages.</a:t>
            </a:r>
            <a:br>
              <a:rPr lang="en-US"/>
            </a:br>
            <a:endParaRPr/>
          </a:p>
          <a:p>
            <a:pPr indent="-381000" lvl="0" marL="457200" rtl="0" algn="just">
              <a:lnSpc>
                <a:spcPct val="100000"/>
              </a:lnSpc>
              <a:spcBef>
                <a:spcPts val="0"/>
              </a:spcBef>
              <a:spcAft>
                <a:spcPts val="0"/>
              </a:spcAft>
              <a:buSzPts val="2400"/>
              <a:buAutoNum type="arabicPeriod"/>
            </a:pPr>
            <a:r>
              <a:rPr lang="en-US"/>
              <a:t>Challenge:The challenge is to build an accurate, usable prediction system based on real data to address these limitations and support sustainable water management.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Background</a:t>
            </a:r>
            <a:endParaRPr/>
          </a:p>
        </p:txBody>
      </p:sp>
      <p:sp>
        <p:nvSpPr>
          <p:cNvPr id="135" name="Google Shape;135;p20"/>
          <p:cNvSpPr txBox="1"/>
          <p:nvPr>
            <p:ph idx="1" type="body"/>
          </p:nvPr>
        </p:nvSpPr>
        <p:spPr>
          <a:xfrm>
            <a:off x="662975" y="1220775"/>
            <a:ext cx="6794700" cy="4586100"/>
          </a:xfrm>
          <a:prstGeom prst="rect">
            <a:avLst/>
          </a:prstGeom>
          <a:noFill/>
          <a:ln>
            <a:noFill/>
          </a:ln>
        </p:spPr>
        <p:txBody>
          <a:bodyPr anchorCtr="0" anchor="t" bIns="45700" lIns="91425" spcFirstLastPara="1" rIns="91425" wrap="square" tIns="45700">
            <a:noAutofit/>
          </a:bodyPr>
          <a:lstStyle/>
          <a:p>
            <a:pPr indent="-381000" lvl="0" marL="457200" rtl="0" algn="l">
              <a:lnSpc>
                <a:spcPct val="100000"/>
              </a:lnSpc>
              <a:spcBef>
                <a:spcPts val="480"/>
              </a:spcBef>
              <a:spcAft>
                <a:spcPts val="0"/>
              </a:spcAft>
              <a:buSzPts val="2400"/>
              <a:buAutoNum type="arabicPeriod"/>
            </a:pPr>
            <a:r>
              <a:rPr lang="en-US"/>
              <a:t>Current Groundwater Status:61% of Karnataka taluks are in semi-critical, critical, or overexploited categories, as reported by the Central Ground Water Board (CGWB).</a:t>
            </a:r>
            <a:br>
              <a:rPr lang="en-US"/>
            </a:br>
            <a:endParaRPr/>
          </a:p>
          <a:p>
            <a:pPr indent="-381000" lvl="0" marL="457200" rtl="0" algn="l">
              <a:lnSpc>
                <a:spcPct val="100000"/>
              </a:lnSpc>
              <a:spcBef>
                <a:spcPts val="0"/>
              </a:spcBef>
              <a:spcAft>
                <a:spcPts val="0"/>
              </a:spcAft>
              <a:buSzPts val="2400"/>
              <a:buAutoNum type="arabicPeriod"/>
            </a:pPr>
            <a:r>
              <a:rPr lang="en-US"/>
              <a:t>Impact of Depletion:Increased borewell failures and inconsistent rainfall exacerbate the problem. Existing data sources are not integrated into a usable predictive tool, hindering effective management.</a:t>
            </a:r>
            <a:endParaRPr/>
          </a:p>
        </p:txBody>
      </p:sp>
      <p:pic>
        <p:nvPicPr>
          <p:cNvPr id="136" name="Google Shape;136;p20"/>
          <p:cNvPicPr preferRelativeResize="0"/>
          <p:nvPr/>
        </p:nvPicPr>
        <p:blipFill rotWithShape="1">
          <a:blip r:embed="rId3">
            <a:alphaModFix/>
          </a:blip>
          <a:srcRect b="10900" l="0" r="0" t="10900"/>
          <a:stretch/>
        </p:blipFill>
        <p:spPr>
          <a:xfrm>
            <a:off x="7519150" y="1565450"/>
            <a:ext cx="4557151" cy="37270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3660725" y="3037975"/>
            <a:ext cx="58062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3. </a:t>
            </a:r>
            <a:r>
              <a:rPr lang="en-US"/>
              <a:t>End-to-End Methodology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Motivation</a:t>
            </a:r>
            <a:endParaRPr/>
          </a:p>
        </p:txBody>
      </p:sp>
      <p:sp>
        <p:nvSpPr>
          <p:cNvPr id="147" name="Google Shape;147;p22"/>
          <p:cNvSpPr txBox="1"/>
          <p:nvPr>
            <p:ph idx="1" type="body"/>
          </p:nvPr>
        </p:nvSpPr>
        <p:spPr>
          <a:xfrm>
            <a:off x="854450" y="1551800"/>
            <a:ext cx="6066600" cy="42642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480"/>
              </a:spcBef>
              <a:spcAft>
                <a:spcPts val="0"/>
              </a:spcAft>
              <a:buSzPts val="1800"/>
              <a:buAutoNum type="arabicPeriod"/>
            </a:pPr>
            <a:r>
              <a:rPr lang="en-US" sz="1800"/>
              <a:t>Rising Drought Conditions:Rising drought-like conditions in Karnataka highlight the urgency of developing predictive tools to manage groundwater resources effectively.</a:t>
            </a:r>
            <a:br>
              <a:rPr lang="en-US" sz="1800"/>
            </a:br>
            <a:endParaRPr sz="1800"/>
          </a:p>
          <a:p>
            <a:pPr indent="-342900" lvl="0" marL="457200" rtl="0" algn="l">
              <a:lnSpc>
                <a:spcPct val="100000"/>
              </a:lnSpc>
              <a:spcBef>
                <a:spcPts val="0"/>
              </a:spcBef>
              <a:spcAft>
                <a:spcPts val="0"/>
              </a:spcAft>
              <a:buSzPts val="1800"/>
              <a:buAutoNum type="arabicPeriod"/>
            </a:pPr>
            <a:r>
              <a:rPr lang="en-US" sz="1800"/>
              <a:t>Agricultural Dependence:Agriculture in Karnataka heavily depends on groundwater, with 85% of irrigation relying on it. Predictive insights are crucial for sustainable practices.</a:t>
            </a:r>
            <a:br>
              <a:rPr lang="en-US" sz="1800"/>
            </a:br>
            <a:endParaRPr sz="1800"/>
          </a:p>
          <a:p>
            <a:pPr indent="-342900" lvl="0" marL="457200" rtl="0" algn="l">
              <a:lnSpc>
                <a:spcPct val="100000"/>
              </a:lnSpc>
              <a:spcBef>
                <a:spcPts val="0"/>
              </a:spcBef>
              <a:spcAft>
                <a:spcPts val="0"/>
              </a:spcAft>
              <a:buSzPts val="1800"/>
              <a:buAutoNum type="arabicPeriod"/>
            </a:pPr>
            <a:r>
              <a:rPr lang="en-US" sz="1800"/>
              <a:t>Data Utilization:Despite available data, it is not converted into actionable insights. A predictive tool can guide water allocation, irrigation planning, and policy decisions.</a:t>
            </a:r>
            <a:endParaRPr sz="1800"/>
          </a:p>
        </p:txBody>
      </p:sp>
      <p:pic>
        <p:nvPicPr>
          <p:cNvPr descr="Motivation&#10;&#10;Rising Drought Conditions&#10;&#10;Rising drought-like conditions in Karnataka highlight the urgency of developing predictive tools to manage groundwater resources effectively.&#10;&#10;Agricultural Dependence&#10;&#10;Data Utilization&#10;&#10;Agriculture in Karnataka heavily depends on groundwater, with 85% of irrigation relying on it. Predictive insights are crucial for sustainable practices.&#10;&#10;Despite available data, it is not converted into actionable insights. A predictive tool can guide water allocation, irrigation planning, and policy decisions.&#10;" id="148" name="Google Shape;148;p22"/>
          <p:cNvPicPr preferRelativeResize="0"/>
          <p:nvPr/>
        </p:nvPicPr>
        <p:blipFill rotWithShape="1">
          <a:blip r:embed="rId3">
            <a:alphaModFix/>
          </a:blip>
          <a:srcRect b="0" l="0" r="0" t="0"/>
          <a:stretch/>
        </p:blipFill>
        <p:spPr>
          <a:xfrm>
            <a:off x="6921050" y="1165950"/>
            <a:ext cx="4559749" cy="50358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Project Objectives</a:t>
            </a:r>
            <a:endParaRPr/>
          </a:p>
        </p:txBody>
      </p:sp>
      <p:sp>
        <p:nvSpPr>
          <p:cNvPr id="154" name="Google Shape;154;p23"/>
          <p:cNvSpPr txBox="1"/>
          <p:nvPr>
            <p:ph idx="1" type="body"/>
          </p:nvPr>
        </p:nvSpPr>
        <p:spPr>
          <a:xfrm>
            <a:off x="812800" y="1019175"/>
            <a:ext cx="9695400" cy="4689600"/>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480"/>
              </a:spcBef>
              <a:spcAft>
                <a:spcPts val="0"/>
              </a:spcAft>
              <a:buSzPts val="1800"/>
              <a:buAutoNum type="arabicPeriod"/>
            </a:pPr>
            <a:r>
              <a:rPr lang="en-US" sz="1800"/>
              <a:t>Data Collection and Cleaning:Collect and clean groundwater, rainfall, and demographic datasets from various sources to create a unified, reliable dataset.</a:t>
            </a:r>
            <a:br>
              <a:rPr lang="en-US" sz="1800"/>
            </a:br>
            <a:endParaRPr sz="1800"/>
          </a:p>
          <a:p>
            <a:pPr indent="-342900" lvl="0" marL="457200" rtl="0" algn="just">
              <a:lnSpc>
                <a:spcPct val="100000"/>
              </a:lnSpc>
              <a:spcBef>
                <a:spcPts val="0"/>
              </a:spcBef>
              <a:spcAft>
                <a:spcPts val="0"/>
              </a:spcAft>
              <a:buSzPts val="1800"/>
              <a:buAutoNum type="arabicPeriod"/>
            </a:pPr>
            <a:r>
              <a:rPr lang="en-US" sz="1800"/>
              <a:t>Feature Engineering:Engineer meaningful features that influence groundwater levels, including interactions between rainfall, temperature, and population density.</a:t>
            </a:r>
            <a:br>
              <a:rPr lang="en-US" sz="1800"/>
            </a:br>
            <a:endParaRPr sz="1800"/>
          </a:p>
          <a:p>
            <a:pPr indent="-342900" lvl="0" marL="457200" rtl="0" algn="just">
              <a:lnSpc>
                <a:spcPct val="100000"/>
              </a:lnSpc>
              <a:spcBef>
                <a:spcPts val="0"/>
              </a:spcBef>
              <a:spcAft>
                <a:spcPts val="0"/>
              </a:spcAft>
              <a:buSzPts val="1800"/>
              <a:buAutoNum type="arabicPeriod"/>
            </a:pPr>
            <a:r>
              <a:rPr lang="en-US" sz="1800"/>
              <a:t>Model Training:Train machine learning models, primarily using Random Forest, to achieve high accuracy and interpretability in groundwater level predictions.</a:t>
            </a:r>
            <a:br>
              <a:rPr lang="en-US" sz="1800"/>
            </a:br>
            <a:endParaRPr sz="1800"/>
          </a:p>
          <a:p>
            <a:pPr indent="-342900" lvl="0" marL="457200" rtl="0" algn="just">
              <a:lnSpc>
                <a:spcPct val="100000"/>
              </a:lnSpc>
              <a:spcBef>
                <a:spcPts val="0"/>
              </a:spcBef>
              <a:spcAft>
                <a:spcPts val="0"/>
              </a:spcAft>
              <a:buSzPts val="1800"/>
              <a:buAutoNum type="arabicPeriod"/>
            </a:pPr>
            <a:r>
              <a:rPr lang="en-US" sz="1800"/>
              <a:t>Dashboard Development:Build an interactive Streamlit dashboard to provide real-time predictions and visual insights for stakeholders.</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Scope of Project</a:t>
            </a:r>
            <a:endParaRPr/>
          </a:p>
        </p:txBody>
      </p:sp>
      <p:sp>
        <p:nvSpPr>
          <p:cNvPr id="160" name="Google Shape;160;p24"/>
          <p:cNvSpPr txBox="1"/>
          <p:nvPr>
            <p:ph idx="1" type="body"/>
          </p:nvPr>
        </p:nvSpPr>
        <p:spPr>
          <a:xfrm>
            <a:off x="481175" y="2272625"/>
            <a:ext cx="5225100" cy="3344700"/>
          </a:xfrm>
          <a:prstGeom prst="rect">
            <a:avLst/>
          </a:prstGeom>
          <a:noFill/>
          <a:ln>
            <a:noFill/>
          </a:ln>
        </p:spPr>
        <p:txBody>
          <a:bodyPr anchorCtr="0" anchor="t" bIns="45700" lIns="91425" spcFirstLastPara="1" rIns="91425" wrap="square" tIns="45700">
            <a:normAutofit/>
          </a:bodyPr>
          <a:lstStyle/>
          <a:p>
            <a:pPr indent="0" lvl="0" marL="76200" rtl="0" algn="just">
              <a:lnSpc>
                <a:spcPct val="100000"/>
              </a:lnSpc>
              <a:spcBef>
                <a:spcPts val="480"/>
              </a:spcBef>
              <a:spcAft>
                <a:spcPts val="0"/>
              </a:spcAft>
              <a:buSzPts val="2400"/>
              <a:buNone/>
            </a:pPr>
            <a:r>
              <a:rPr lang="en-US"/>
              <a:t>The project includes Karnataka district/block-level groundwater prediction using ML models and an interactive dashboard with maps, graphs, and predictions.</a:t>
            </a:r>
            <a:endParaRPr/>
          </a:p>
        </p:txBody>
      </p:sp>
      <p:sp>
        <p:nvSpPr>
          <p:cNvPr id="161" name="Google Shape;161;p24"/>
          <p:cNvSpPr txBox="1"/>
          <p:nvPr/>
        </p:nvSpPr>
        <p:spPr>
          <a:xfrm>
            <a:off x="6316300" y="2272625"/>
            <a:ext cx="5225100" cy="3344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400">
                <a:solidFill>
                  <a:schemeClr val="dk1"/>
                </a:solidFill>
                <a:latin typeface="Verdana"/>
                <a:ea typeface="Verdana"/>
                <a:cs typeface="Verdana"/>
                <a:sym typeface="Verdana"/>
              </a:rPr>
              <a:t>Excluded from the scope are real-time IoT sensors, borewell-level micro predictions, and long-term climate forecasting.</a:t>
            </a:r>
            <a:endParaRPr sz="2400">
              <a:solidFill>
                <a:schemeClr val="dk1"/>
              </a:solidFill>
              <a:latin typeface="Verdana"/>
              <a:ea typeface="Verdana"/>
              <a:cs typeface="Verdana"/>
              <a:sym typeface="Verdana"/>
            </a:endParaRPr>
          </a:p>
        </p:txBody>
      </p:sp>
      <p:sp>
        <p:nvSpPr>
          <p:cNvPr id="162" name="Google Shape;162;p24"/>
          <p:cNvSpPr txBox="1"/>
          <p:nvPr/>
        </p:nvSpPr>
        <p:spPr>
          <a:xfrm>
            <a:off x="812700" y="1220775"/>
            <a:ext cx="5225100" cy="7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Verdana"/>
                <a:ea typeface="Verdana"/>
                <a:cs typeface="Verdana"/>
                <a:sym typeface="Verdana"/>
              </a:rPr>
              <a:t>Included</a:t>
            </a:r>
            <a:endParaRPr sz="2400">
              <a:solidFill>
                <a:schemeClr val="dk1"/>
              </a:solidFill>
              <a:latin typeface="Verdana"/>
              <a:ea typeface="Verdana"/>
              <a:cs typeface="Verdana"/>
              <a:sym typeface="Verdana"/>
            </a:endParaRPr>
          </a:p>
        </p:txBody>
      </p:sp>
      <p:sp>
        <p:nvSpPr>
          <p:cNvPr id="163" name="Google Shape;163;p24"/>
          <p:cNvSpPr txBox="1"/>
          <p:nvPr/>
        </p:nvSpPr>
        <p:spPr>
          <a:xfrm>
            <a:off x="6680750" y="1220775"/>
            <a:ext cx="5225100" cy="7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Verdana"/>
                <a:ea typeface="Verdana"/>
                <a:cs typeface="Verdana"/>
                <a:sym typeface="Verdana"/>
              </a:rPr>
              <a:t>Excluded</a:t>
            </a:r>
            <a:endParaRPr sz="2400">
              <a:solidFill>
                <a:schemeClr val="dk1"/>
              </a:solidFill>
              <a:latin typeface="Verdana"/>
              <a:ea typeface="Verdana"/>
              <a:cs typeface="Verdana"/>
              <a:sym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Literature Review Summary</a:t>
            </a:r>
            <a:endParaRPr/>
          </a:p>
        </p:txBody>
      </p:sp>
      <p:sp>
        <p:nvSpPr>
          <p:cNvPr id="169" name="Google Shape;169;p25"/>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381000" lvl="0" marL="457200" rtl="0" algn="just">
              <a:lnSpc>
                <a:spcPct val="100000"/>
              </a:lnSpc>
              <a:spcBef>
                <a:spcPts val="480"/>
              </a:spcBef>
              <a:spcAft>
                <a:spcPts val="0"/>
              </a:spcAft>
              <a:buSzPts val="2400"/>
              <a:buAutoNum type="arabicPeriod"/>
            </a:pPr>
            <a:r>
              <a:rPr lang="en-US"/>
              <a:t>Prior Models:Prior models have used ANN, SVM, LSTM, and RF. Ensemble methods like Random Forest and XGBoost outperform classical statistical models.</a:t>
            </a:r>
            <a:br>
              <a:rPr lang="en-US"/>
            </a:br>
            <a:endParaRPr/>
          </a:p>
          <a:p>
            <a:pPr indent="-381000" lvl="0" marL="457200" rtl="0" algn="just">
              <a:lnSpc>
                <a:spcPct val="100000"/>
              </a:lnSpc>
              <a:spcBef>
                <a:spcPts val="0"/>
              </a:spcBef>
              <a:spcAft>
                <a:spcPts val="0"/>
              </a:spcAft>
              <a:buSzPts val="2400"/>
              <a:buAutoNum type="arabicPeriod"/>
            </a:pPr>
            <a:r>
              <a:rPr lang="en-US"/>
              <a:t>Gaps Identified:Gaps in prior research include the lack of user-friendly dashboards, limited spatial prediction, and missing interaction features like rainfall × temperature × population.</a:t>
            </a:r>
            <a:br>
              <a:rPr lang="en-US"/>
            </a:br>
            <a:endParaRPr/>
          </a:p>
          <a:p>
            <a:pPr indent="-381000" lvl="0" marL="457200" rtl="0" algn="just">
              <a:lnSpc>
                <a:spcPct val="100000"/>
              </a:lnSpc>
              <a:spcBef>
                <a:spcPts val="0"/>
              </a:spcBef>
              <a:spcAft>
                <a:spcPts val="0"/>
              </a:spcAft>
              <a:buSzPts val="2400"/>
              <a:buAutoNum type="arabicPeriod"/>
            </a:pPr>
            <a:r>
              <a:rPr lang="en-US"/>
              <a:t>Our Contribution:Our project addresses these gaps by integrating a hybrid ML model with a visualization system for comprehensive groundwater level prediction.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ph type="title"/>
          </p:nvPr>
        </p:nvSpPr>
        <p:spPr>
          <a:xfrm>
            <a:off x="3660725" y="3037975"/>
            <a:ext cx="45441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4. </a:t>
            </a:r>
            <a:r>
              <a:rPr lang="en-US"/>
              <a:t>Results &amp; Insights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Proposed System</a:t>
            </a:r>
            <a:endParaRPr/>
          </a:p>
        </p:txBody>
      </p:sp>
      <p:sp>
        <p:nvSpPr>
          <p:cNvPr id="180" name="Google Shape;180;p27"/>
          <p:cNvSpPr txBox="1"/>
          <p:nvPr>
            <p:ph idx="1" type="body"/>
          </p:nvPr>
        </p:nvSpPr>
        <p:spPr>
          <a:xfrm>
            <a:off x="812800" y="1019175"/>
            <a:ext cx="9695400" cy="4689600"/>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480"/>
              </a:spcBef>
              <a:spcAft>
                <a:spcPts val="0"/>
              </a:spcAft>
              <a:buSzPts val="1800"/>
              <a:buAutoNum type="arabicPeriod"/>
            </a:pPr>
            <a:r>
              <a:rPr lang="en-US" sz="1800"/>
              <a:t>Hybrid ML + Visualization:</a:t>
            </a:r>
            <a:r>
              <a:rPr lang="en-US" sz="1800"/>
              <a:t> The proposed system combines machine learning for groundwater level prediction with a visualization interface for easy interpretation.</a:t>
            </a:r>
            <a:br>
              <a:rPr lang="en-US" sz="1800"/>
            </a:br>
            <a:endParaRPr sz="1800"/>
          </a:p>
          <a:p>
            <a:pPr indent="-342900" lvl="0" marL="457200" rtl="0" algn="just">
              <a:lnSpc>
                <a:spcPct val="100000"/>
              </a:lnSpc>
              <a:spcBef>
                <a:spcPts val="0"/>
              </a:spcBef>
              <a:spcAft>
                <a:spcPts val="0"/>
              </a:spcAft>
              <a:buSzPts val="1800"/>
              <a:buAutoNum type="arabicPeriod"/>
            </a:pPr>
            <a:r>
              <a:rPr lang="en-US" sz="1800"/>
              <a:t>Spatial Heatmaps: It generates spatial heatmaps to visualize the distribution of predicted groundwater levels across regions.</a:t>
            </a:r>
            <a:br>
              <a:rPr lang="en-US" sz="1800"/>
            </a:br>
            <a:endParaRPr sz="1800"/>
          </a:p>
          <a:p>
            <a:pPr indent="-342900" lvl="0" marL="457200" rtl="0" algn="just">
              <a:lnSpc>
                <a:spcPct val="100000"/>
              </a:lnSpc>
              <a:spcBef>
                <a:spcPts val="0"/>
              </a:spcBef>
              <a:spcAft>
                <a:spcPts val="0"/>
              </a:spcAft>
              <a:buSzPts val="1800"/>
              <a:buAutoNum type="arabicPeriod"/>
            </a:pPr>
            <a:r>
              <a:rPr lang="en-US" sz="1800"/>
              <a:t>Prediction Capabilities:</a:t>
            </a:r>
            <a:r>
              <a:rPr lang="en-US" sz="1800"/>
              <a:t>The system predicts groundwater levels in meters below ground level, providing actionable insights for water management. </a:t>
            </a:r>
            <a:br>
              <a:rPr lang="en-US" sz="1800"/>
            </a:br>
            <a:endParaRPr sz="1800"/>
          </a:p>
          <a:p>
            <a:pPr indent="-342900" lvl="0" marL="457200" rtl="0" algn="just">
              <a:lnSpc>
                <a:spcPct val="100000"/>
              </a:lnSpc>
              <a:spcBef>
                <a:spcPts val="0"/>
              </a:spcBef>
              <a:spcAft>
                <a:spcPts val="0"/>
              </a:spcAft>
              <a:buSzPts val="1800"/>
              <a:buAutoNum type="arabicPeriod"/>
            </a:pPr>
            <a:r>
              <a:rPr lang="en-US" sz="1800"/>
              <a:t>Scenario Analysis: Users can run scenario analysis ('what-if' simulations) to explore the impact of different conditions on groundwater levels.</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System Architecture</a:t>
            </a:r>
            <a:endParaRPr/>
          </a:p>
        </p:txBody>
      </p:sp>
      <p:sp>
        <p:nvSpPr>
          <p:cNvPr id="186" name="Google Shape;186;p28"/>
          <p:cNvSpPr txBox="1"/>
          <p:nvPr>
            <p:ph idx="1" type="body"/>
          </p:nvPr>
        </p:nvSpPr>
        <p:spPr>
          <a:xfrm>
            <a:off x="812800" y="2272625"/>
            <a:ext cx="5225100" cy="3344700"/>
          </a:xfrm>
          <a:prstGeom prst="rect">
            <a:avLst/>
          </a:prstGeom>
          <a:noFill/>
          <a:ln>
            <a:noFill/>
          </a:ln>
        </p:spPr>
        <p:txBody>
          <a:bodyPr anchorCtr="0" anchor="t" bIns="45700" lIns="91425" spcFirstLastPara="1" rIns="91425" wrap="square" tIns="45700">
            <a:normAutofit/>
          </a:bodyPr>
          <a:lstStyle/>
          <a:p>
            <a:pPr indent="0" lvl="0" marL="76200" rtl="0" algn="just">
              <a:lnSpc>
                <a:spcPct val="100000"/>
              </a:lnSpc>
              <a:spcBef>
                <a:spcPts val="480"/>
              </a:spcBef>
              <a:spcAft>
                <a:spcPts val="0"/>
              </a:spcAft>
              <a:buSzPts val="2400"/>
              <a:buNone/>
            </a:pPr>
            <a:r>
              <a:rPr lang="en-US"/>
              <a:t>Data flows from sources like CGWB, IMD, KGWA, and India-WRIS through preprocessing, feature engineering, model training, evaluation, and finally to the Streamlit dashboard for predictions. </a:t>
            </a:r>
            <a:endParaRPr/>
          </a:p>
        </p:txBody>
      </p:sp>
      <p:sp>
        <p:nvSpPr>
          <p:cNvPr id="187" name="Google Shape;187;p28"/>
          <p:cNvSpPr txBox="1"/>
          <p:nvPr/>
        </p:nvSpPr>
        <p:spPr>
          <a:xfrm>
            <a:off x="6711050" y="2272625"/>
            <a:ext cx="5164500" cy="3344700"/>
          </a:xfrm>
          <a:prstGeom prst="rect">
            <a:avLst/>
          </a:prstGeom>
          <a:noFill/>
          <a:ln>
            <a:noFill/>
          </a:ln>
        </p:spPr>
        <p:txBody>
          <a:bodyPr anchorCtr="0" anchor="t" bIns="91425" lIns="91425" spcFirstLastPara="1" rIns="91425" wrap="square" tIns="91425">
            <a:noAutofit/>
          </a:bodyPr>
          <a:lstStyle/>
          <a:p>
            <a:pPr indent="0" lvl="0" marL="76200" rtl="0" algn="just">
              <a:spcBef>
                <a:spcPts val="480"/>
              </a:spcBef>
              <a:spcAft>
                <a:spcPts val="0"/>
              </a:spcAft>
              <a:buClr>
                <a:schemeClr val="dk1"/>
              </a:buClr>
              <a:buSzPts val="2400"/>
              <a:buFont typeface="Arial"/>
              <a:buNone/>
            </a:pPr>
            <a:r>
              <a:rPr lang="en-US" sz="2400">
                <a:solidFill>
                  <a:schemeClr val="dk1"/>
                </a:solidFill>
                <a:latin typeface="Verdana"/>
                <a:ea typeface="Verdana"/>
                <a:cs typeface="Verdana"/>
                <a:sym typeface="Verdana"/>
              </a:rPr>
              <a:t>A simple block diagram illustrates the architecture, highlighting key components and their interactions in the system.</a:t>
            </a:r>
            <a:endParaRPr sz="2400">
              <a:solidFill>
                <a:schemeClr val="dk1"/>
              </a:solidFill>
              <a:latin typeface="Verdana"/>
              <a:ea typeface="Verdana"/>
              <a:cs typeface="Verdana"/>
              <a:sym typeface="Verdana"/>
            </a:endParaRPr>
          </a:p>
          <a:p>
            <a:pPr indent="0" lvl="0" marL="0" rtl="0" algn="just">
              <a:spcBef>
                <a:spcPts val="0"/>
              </a:spcBef>
              <a:spcAft>
                <a:spcPts val="0"/>
              </a:spcAft>
              <a:buNone/>
            </a:pPr>
            <a:r>
              <a:t/>
            </a:r>
            <a:endParaRPr sz="2400">
              <a:solidFill>
                <a:schemeClr val="dk1"/>
              </a:solidFill>
              <a:latin typeface="Verdana"/>
              <a:ea typeface="Verdana"/>
              <a:cs typeface="Verdana"/>
              <a:sym typeface="Verdana"/>
            </a:endParaRPr>
          </a:p>
        </p:txBody>
      </p:sp>
      <p:sp>
        <p:nvSpPr>
          <p:cNvPr id="188" name="Google Shape;188;p28"/>
          <p:cNvSpPr txBox="1"/>
          <p:nvPr/>
        </p:nvSpPr>
        <p:spPr>
          <a:xfrm>
            <a:off x="812700" y="1220775"/>
            <a:ext cx="5225100" cy="757200"/>
          </a:xfrm>
          <a:prstGeom prst="rect">
            <a:avLst/>
          </a:prstGeom>
          <a:noFill/>
          <a:ln>
            <a:noFill/>
          </a:ln>
        </p:spPr>
        <p:txBody>
          <a:bodyPr anchorCtr="0" anchor="t" bIns="91425" lIns="91425" spcFirstLastPara="1" rIns="91425" wrap="square" tIns="91425">
            <a:noAutofit/>
          </a:bodyPr>
          <a:lstStyle/>
          <a:p>
            <a:pPr indent="0" lvl="0" marL="76200" rtl="0" algn="just">
              <a:spcBef>
                <a:spcPts val="480"/>
              </a:spcBef>
              <a:spcAft>
                <a:spcPts val="0"/>
              </a:spcAft>
              <a:buClr>
                <a:schemeClr val="dk1"/>
              </a:buClr>
              <a:buSzPts val="2400"/>
              <a:buFont typeface="Arial"/>
              <a:buNone/>
            </a:pPr>
            <a:r>
              <a:rPr lang="en-US" sz="2400">
                <a:solidFill>
                  <a:schemeClr val="dk1"/>
                </a:solidFill>
                <a:latin typeface="Verdana"/>
                <a:ea typeface="Verdana"/>
                <a:cs typeface="Verdana"/>
                <a:sym typeface="Verdana"/>
              </a:rPr>
              <a:t>Data Flow</a:t>
            </a:r>
            <a:endParaRPr sz="2400">
              <a:solidFill>
                <a:schemeClr val="dk1"/>
              </a:solidFill>
              <a:latin typeface="Verdana"/>
              <a:ea typeface="Verdana"/>
              <a:cs typeface="Verdana"/>
              <a:sym typeface="Verdana"/>
            </a:endParaRPr>
          </a:p>
        </p:txBody>
      </p:sp>
      <p:sp>
        <p:nvSpPr>
          <p:cNvPr id="189" name="Google Shape;189;p28"/>
          <p:cNvSpPr txBox="1"/>
          <p:nvPr/>
        </p:nvSpPr>
        <p:spPr>
          <a:xfrm>
            <a:off x="6680750" y="1220775"/>
            <a:ext cx="5225100" cy="757200"/>
          </a:xfrm>
          <a:prstGeom prst="rect">
            <a:avLst/>
          </a:prstGeom>
          <a:noFill/>
          <a:ln>
            <a:noFill/>
          </a:ln>
        </p:spPr>
        <p:txBody>
          <a:bodyPr anchorCtr="0" anchor="t" bIns="91425" lIns="91425" spcFirstLastPara="1" rIns="91425" wrap="square" tIns="91425">
            <a:noAutofit/>
          </a:bodyPr>
          <a:lstStyle/>
          <a:p>
            <a:pPr indent="0" lvl="0" marL="76200" rtl="0" algn="just">
              <a:spcBef>
                <a:spcPts val="480"/>
              </a:spcBef>
              <a:spcAft>
                <a:spcPts val="0"/>
              </a:spcAft>
              <a:buClr>
                <a:schemeClr val="dk1"/>
              </a:buClr>
              <a:buSzPts val="2400"/>
              <a:buFont typeface="Arial"/>
              <a:buNone/>
            </a:pPr>
            <a:r>
              <a:rPr lang="en-US" sz="2400">
                <a:solidFill>
                  <a:schemeClr val="dk1"/>
                </a:solidFill>
                <a:latin typeface="Verdana"/>
                <a:ea typeface="Verdana"/>
                <a:cs typeface="Verdana"/>
                <a:sym typeface="Verdana"/>
              </a:rPr>
              <a:t>Block Diagram</a:t>
            </a:r>
            <a:endParaRPr sz="2400">
              <a:solidFill>
                <a:schemeClr val="dk1"/>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Methodology</a:t>
            </a:r>
            <a:endParaRPr/>
          </a:p>
        </p:txBody>
      </p:sp>
      <p:sp>
        <p:nvSpPr>
          <p:cNvPr id="195" name="Google Shape;195;p29"/>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381000" lvl="0" marL="457200" rtl="0" algn="just">
              <a:lnSpc>
                <a:spcPct val="100000"/>
              </a:lnSpc>
              <a:spcBef>
                <a:spcPts val="480"/>
              </a:spcBef>
              <a:spcAft>
                <a:spcPts val="0"/>
              </a:spcAft>
              <a:buSzPts val="2400"/>
              <a:buAutoNum type="arabicPeriod"/>
            </a:pPr>
            <a:r>
              <a:rPr lang="en-US"/>
              <a:t>V-Model Approach: The project follows a V-Model development approach, ensuring a structured and systematic process from requirements to deployment. </a:t>
            </a:r>
            <a:br>
              <a:rPr lang="en-US"/>
            </a:br>
            <a:endParaRPr/>
          </a:p>
          <a:p>
            <a:pPr indent="-381000" lvl="0" marL="457200" rtl="0" algn="just">
              <a:lnSpc>
                <a:spcPct val="100000"/>
              </a:lnSpc>
              <a:spcBef>
                <a:spcPts val="0"/>
              </a:spcBef>
              <a:spcAft>
                <a:spcPts val="0"/>
              </a:spcAft>
              <a:buSzPts val="2400"/>
              <a:buAutoNum type="arabicPeriod"/>
            </a:pPr>
            <a:r>
              <a:rPr lang="en-US"/>
              <a:t>Development Steps: Steps include requirement analysis, design (architecture and flow), implementation (ML model and dashboard), testing (unit, system, user), and deployment.</a:t>
            </a:r>
            <a:br>
              <a:rPr lang="en-US"/>
            </a:br>
            <a:endParaRPr/>
          </a:p>
          <a:p>
            <a:pPr indent="-381000" lvl="0" marL="457200" rtl="0" algn="just">
              <a:lnSpc>
                <a:spcPct val="100000"/>
              </a:lnSpc>
              <a:spcBef>
                <a:spcPts val="0"/>
              </a:spcBef>
              <a:spcAft>
                <a:spcPts val="0"/>
              </a:spcAft>
              <a:buSzPts val="2400"/>
              <a:buAutoNum type="arabicPeriod"/>
            </a:pPr>
            <a:r>
              <a:rPr lang="en-US"/>
              <a:t>Quality Assurance: Rigorous testing ensures the system's reliability and usability, with user acceptance testing validating its effectiveness.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0"/>
          <p:cNvSpPr txBox="1"/>
          <p:nvPr>
            <p:ph type="title"/>
          </p:nvPr>
        </p:nvSpPr>
        <p:spPr>
          <a:xfrm>
            <a:off x="2524725" y="3037975"/>
            <a:ext cx="70263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5. </a:t>
            </a:r>
            <a:r>
              <a:rPr lang="en-US"/>
              <a:t>Dashboard &amp; Real-World Use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Dataset Sources</a:t>
            </a:r>
            <a:endParaRPr/>
          </a:p>
        </p:txBody>
      </p:sp>
      <p:sp>
        <p:nvSpPr>
          <p:cNvPr id="206" name="Google Shape;206;p31"/>
          <p:cNvSpPr txBox="1"/>
          <p:nvPr>
            <p:ph idx="1" type="body"/>
          </p:nvPr>
        </p:nvSpPr>
        <p:spPr>
          <a:xfrm>
            <a:off x="812800" y="1019175"/>
            <a:ext cx="9695400" cy="4689600"/>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480"/>
              </a:spcBef>
              <a:spcAft>
                <a:spcPts val="0"/>
              </a:spcAft>
              <a:buSzPts val="1800"/>
              <a:buAutoNum type="arabicPeriod"/>
            </a:pPr>
            <a:r>
              <a:rPr lang="en-US" sz="1800"/>
              <a:t>CGWB Data:</a:t>
            </a:r>
            <a:r>
              <a:rPr lang="en-US" sz="1800"/>
              <a:t>Groundwater levels are sourced from the Central Ground Water Board (CGWB) for accurate depth measurements.</a:t>
            </a:r>
            <a:br>
              <a:rPr lang="en-US" sz="1800"/>
            </a:br>
            <a:endParaRPr sz="1800"/>
          </a:p>
          <a:p>
            <a:pPr indent="-342900" lvl="0" marL="457200" rtl="0" algn="just">
              <a:lnSpc>
                <a:spcPct val="100000"/>
              </a:lnSpc>
              <a:spcBef>
                <a:spcPts val="0"/>
              </a:spcBef>
              <a:spcAft>
                <a:spcPts val="0"/>
              </a:spcAft>
              <a:buSzPts val="1800"/>
              <a:buAutoNum type="arabicPeriod"/>
            </a:pPr>
            <a:r>
              <a:rPr lang="en-US" sz="1800"/>
              <a:t>KGWA Data: Local borewell statistics are provided by the Karnataka Ground Water Authority (KGWA) for regional insights.</a:t>
            </a:r>
            <a:br>
              <a:rPr lang="en-US" sz="1800"/>
            </a:br>
            <a:endParaRPr sz="1800"/>
          </a:p>
          <a:p>
            <a:pPr indent="-342900" lvl="0" marL="457200" rtl="0" algn="just">
              <a:lnSpc>
                <a:spcPct val="100000"/>
              </a:lnSpc>
              <a:spcBef>
                <a:spcPts val="0"/>
              </a:spcBef>
              <a:spcAft>
                <a:spcPts val="0"/>
              </a:spcAft>
              <a:buSzPts val="1800"/>
              <a:buAutoNum type="arabicPeriod"/>
            </a:pPr>
            <a:r>
              <a:rPr lang="en-US" sz="1800"/>
              <a:t>India-WRIS Data: </a:t>
            </a:r>
            <a:r>
              <a:rPr lang="en-US" sz="1800"/>
              <a:t>Mapping and geo-data are sourced from India-WRIS to integrate spatial elements into the dataset.</a:t>
            </a:r>
            <a:br>
              <a:rPr lang="en-US" sz="1800"/>
            </a:br>
            <a:endParaRPr sz="1800"/>
          </a:p>
          <a:p>
            <a:pPr indent="-342900" lvl="0" marL="457200" rtl="0" algn="just">
              <a:lnSpc>
                <a:spcPct val="100000"/>
              </a:lnSpc>
              <a:spcBef>
                <a:spcPts val="0"/>
              </a:spcBef>
              <a:spcAft>
                <a:spcPts val="0"/>
              </a:spcAft>
              <a:buSzPts val="1800"/>
              <a:buAutoNum type="arabicPeriod"/>
            </a:pPr>
            <a:r>
              <a:rPr lang="en-US" sz="1800"/>
              <a:t>IMD Data: Rainfall and temperature data are obtained from the India Meteorological Department (IMD) for meteorological context.</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Data Preprocessing</a:t>
            </a:r>
            <a:endParaRPr/>
          </a:p>
        </p:txBody>
      </p:sp>
      <p:sp>
        <p:nvSpPr>
          <p:cNvPr id="212" name="Google Shape;212;p32"/>
          <p:cNvSpPr txBox="1"/>
          <p:nvPr>
            <p:ph idx="1" type="body"/>
          </p:nvPr>
        </p:nvSpPr>
        <p:spPr>
          <a:xfrm>
            <a:off x="854450" y="1551800"/>
            <a:ext cx="6066600" cy="42642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480"/>
              </a:spcBef>
              <a:spcAft>
                <a:spcPts val="0"/>
              </a:spcAft>
              <a:buSzPts val="1800"/>
              <a:buAutoNum type="arabicPeriod"/>
            </a:pPr>
            <a:r>
              <a:rPr lang="en-US" sz="1800"/>
              <a:t>Handling Missing Values Missing values are handled using appropriate imputation techniques to ensure data completeness. </a:t>
            </a:r>
            <a:br>
              <a:rPr lang="en-US" sz="1800"/>
            </a:br>
            <a:endParaRPr sz="1800"/>
          </a:p>
          <a:p>
            <a:pPr indent="-342900" lvl="0" marL="457200" rtl="0" algn="l">
              <a:lnSpc>
                <a:spcPct val="100000"/>
              </a:lnSpc>
              <a:spcBef>
                <a:spcPts val="0"/>
              </a:spcBef>
              <a:spcAft>
                <a:spcPts val="0"/>
              </a:spcAft>
              <a:buSzPts val="1800"/>
              <a:buAutoNum type="arabicPeriod"/>
            </a:pPr>
            <a:r>
              <a:rPr lang="en-US" sz="1800"/>
              <a:t>Cleaning and Formatting:</a:t>
            </a:r>
            <a:r>
              <a:rPr lang="en-US" sz="1800"/>
              <a:t> Data is cleaned and formatted to remove inconsistencies and ensure uniformity across sources.</a:t>
            </a:r>
            <a:br>
              <a:rPr lang="en-US" sz="1800"/>
            </a:br>
            <a:endParaRPr sz="1800"/>
          </a:p>
          <a:p>
            <a:pPr indent="-342900" lvl="0" marL="457200" rtl="0" algn="l">
              <a:lnSpc>
                <a:spcPct val="100000"/>
              </a:lnSpc>
              <a:spcBef>
                <a:spcPts val="0"/>
              </a:spcBef>
              <a:spcAft>
                <a:spcPts val="0"/>
              </a:spcAft>
              <a:buSzPts val="1800"/>
              <a:buAutoNum type="arabicPeriod"/>
            </a:pPr>
            <a:r>
              <a:rPr lang="en-US" sz="1800"/>
              <a:t>Normalization: Rainfall, temperature, and population data are normalized to facilitate effective model training.</a:t>
            </a:r>
            <a:endParaRPr sz="1800"/>
          </a:p>
        </p:txBody>
      </p:sp>
      <p:pic>
        <p:nvPicPr>
          <p:cNvPr descr="Handling Missing Values&#10;Missing values are handled using appropriate imputation techniques to ensure data completeness.&#10;Cleaning and Formatting&#10;Data is cleaned and formatted to remove inconsistencies and ensure uniformity across sources.&#10;Normalization&#10;Rainfall, temperature, and population data are normalized to facilitate effective model training.&#10;" id="213" name="Google Shape;213;p32"/>
          <p:cNvPicPr preferRelativeResize="0"/>
          <p:nvPr/>
        </p:nvPicPr>
        <p:blipFill rotWithShape="1">
          <a:blip r:embed="rId3">
            <a:alphaModFix/>
          </a:blip>
          <a:srcRect b="0" l="0" r="0" t="0"/>
          <a:stretch/>
        </p:blipFill>
        <p:spPr>
          <a:xfrm>
            <a:off x="7052775" y="1165950"/>
            <a:ext cx="4600550" cy="4876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Feature Engineering</a:t>
            </a:r>
            <a:endParaRPr/>
          </a:p>
        </p:txBody>
      </p:sp>
      <p:sp>
        <p:nvSpPr>
          <p:cNvPr id="219" name="Google Shape;219;p33"/>
          <p:cNvSpPr txBox="1"/>
          <p:nvPr>
            <p:ph idx="1" type="body"/>
          </p:nvPr>
        </p:nvSpPr>
        <p:spPr>
          <a:xfrm>
            <a:off x="812800" y="1019175"/>
            <a:ext cx="9695400" cy="4689600"/>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480"/>
              </a:spcBef>
              <a:spcAft>
                <a:spcPts val="0"/>
              </a:spcAft>
              <a:buSzPts val="1800"/>
              <a:buAutoNum type="arabicPeriod"/>
            </a:pPr>
            <a:r>
              <a:rPr lang="en-US" sz="1800"/>
              <a:t>Interaction Features:</a:t>
            </a:r>
            <a:r>
              <a:rPr lang="en-US" sz="1800"/>
              <a:t>Interaction features like rainfall × temperature are engineered to capture complex relationships influencing groundwater levels. </a:t>
            </a:r>
            <a:br>
              <a:rPr lang="en-US" sz="1800"/>
            </a:br>
            <a:endParaRPr sz="1800"/>
          </a:p>
          <a:p>
            <a:pPr indent="-342900" lvl="0" marL="457200" rtl="0" algn="just">
              <a:lnSpc>
                <a:spcPct val="100000"/>
              </a:lnSpc>
              <a:spcBef>
                <a:spcPts val="0"/>
              </a:spcBef>
              <a:spcAft>
                <a:spcPts val="0"/>
              </a:spcAft>
              <a:buSzPts val="1800"/>
              <a:buAutoNum type="arabicPeriod"/>
            </a:pPr>
            <a:r>
              <a:rPr lang="en-US" sz="1800"/>
              <a:t>Population Density: </a:t>
            </a:r>
            <a:r>
              <a:rPr lang="en-US" sz="1800"/>
              <a:t>Population density is included as a feature to reflect the impact of human activity on groundwater resources.</a:t>
            </a:r>
            <a:br>
              <a:rPr lang="en-US" sz="1800"/>
            </a:br>
            <a:endParaRPr sz="1800"/>
          </a:p>
          <a:p>
            <a:pPr indent="-342900" lvl="0" marL="457200" rtl="0" algn="just">
              <a:lnSpc>
                <a:spcPct val="100000"/>
              </a:lnSpc>
              <a:spcBef>
                <a:spcPts val="0"/>
              </a:spcBef>
              <a:spcAft>
                <a:spcPts val="0"/>
              </a:spcAft>
              <a:buSzPts val="1800"/>
              <a:buAutoNum type="arabicPeriod"/>
            </a:pPr>
            <a:r>
              <a:rPr lang="en-US" sz="1800"/>
              <a:t>Soil-Type Features: </a:t>
            </a:r>
            <a:r>
              <a:rPr lang="en-US" sz="1800"/>
              <a:t>Soil-type categorical features are encoded to account for the influence of soil properties on groundwater recharge.</a:t>
            </a:r>
            <a:br>
              <a:rPr lang="en-US" sz="1800"/>
            </a:br>
            <a:endParaRPr sz="1800"/>
          </a:p>
          <a:p>
            <a:pPr indent="-342900" lvl="0" marL="457200" rtl="0" algn="just">
              <a:lnSpc>
                <a:spcPct val="100000"/>
              </a:lnSpc>
              <a:spcBef>
                <a:spcPts val="0"/>
              </a:spcBef>
              <a:spcAft>
                <a:spcPts val="0"/>
              </a:spcAft>
              <a:buSzPts val="1800"/>
              <a:buAutoNum type="arabicPeriod"/>
            </a:pPr>
            <a:r>
              <a:rPr lang="en-US" sz="1800"/>
              <a:t>Regional Grouping: Regional grouping and yearly trends are used to capture spatial and temporal variations in groundwater levels.</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4"/>
          <p:cNvSpPr txBox="1"/>
          <p:nvPr>
            <p:ph type="title"/>
          </p:nvPr>
        </p:nvSpPr>
        <p:spPr>
          <a:xfrm>
            <a:off x="3292575" y="3048500"/>
            <a:ext cx="70263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6. </a:t>
            </a:r>
            <a:r>
              <a:rPr lang="en-US"/>
              <a:t>Limitations &amp; Roadmap</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Machine Learning Models</a:t>
            </a:r>
            <a:endParaRPr/>
          </a:p>
        </p:txBody>
      </p:sp>
      <p:sp>
        <p:nvSpPr>
          <p:cNvPr id="230" name="Google Shape;230;p35"/>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381000" lvl="0" marL="457200" rtl="0" algn="just">
              <a:lnSpc>
                <a:spcPct val="100000"/>
              </a:lnSpc>
              <a:spcBef>
                <a:spcPts val="480"/>
              </a:spcBef>
              <a:spcAft>
                <a:spcPts val="0"/>
              </a:spcAft>
              <a:buSzPts val="2400"/>
              <a:buAutoNum type="arabicPeriod"/>
            </a:pPr>
            <a:r>
              <a:rPr lang="en-US"/>
              <a:t>Comparison Model: XGBoost is used as a comparison model to evaluate performance and select the best approach.</a:t>
            </a:r>
            <a:br>
              <a:rPr lang="en-US"/>
            </a:br>
            <a:endParaRPr/>
          </a:p>
          <a:p>
            <a:pPr indent="-381000" lvl="0" marL="457200" rtl="0" algn="just">
              <a:lnSpc>
                <a:spcPct val="100000"/>
              </a:lnSpc>
              <a:spcBef>
                <a:spcPts val="0"/>
              </a:spcBef>
              <a:spcAft>
                <a:spcPts val="0"/>
              </a:spcAft>
              <a:buSzPts val="2400"/>
              <a:buAutoNum type="arabicPeriod"/>
            </a:pPr>
            <a:r>
              <a:rPr lang="en-US"/>
              <a:t>Advantages of Random Forest:</a:t>
            </a:r>
            <a:r>
              <a:rPr lang="en-US"/>
              <a:t>Random Forest handles nonlinear patterns, is robust to missing and noisy data, and provides high accuracy and interpretability. </a:t>
            </a:r>
            <a:br>
              <a:rPr lang="en-US"/>
            </a:br>
            <a:endParaRPr/>
          </a:p>
          <a:p>
            <a:pPr indent="-381000" lvl="0" marL="457200" rtl="0" algn="just">
              <a:lnSpc>
                <a:spcPct val="100000"/>
              </a:lnSpc>
              <a:spcBef>
                <a:spcPts val="0"/>
              </a:spcBef>
              <a:spcAft>
                <a:spcPts val="0"/>
              </a:spcAft>
              <a:buSzPts val="2400"/>
              <a:buAutoNum type="arabicPeriod"/>
            </a:pPr>
            <a:r>
              <a:rPr lang="en-US"/>
              <a:t>Primary Model: The primary model used is the Random Forest Regressor for its robustness and interpretability.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Model Training</a:t>
            </a:r>
            <a:endParaRPr/>
          </a:p>
        </p:txBody>
      </p:sp>
      <p:sp>
        <p:nvSpPr>
          <p:cNvPr id="236" name="Google Shape;236;p36"/>
          <p:cNvSpPr txBox="1"/>
          <p:nvPr>
            <p:ph idx="1" type="body"/>
          </p:nvPr>
        </p:nvSpPr>
        <p:spPr>
          <a:xfrm>
            <a:off x="812800" y="1019175"/>
            <a:ext cx="9695400" cy="4689600"/>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480"/>
              </a:spcBef>
              <a:spcAft>
                <a:spcPts val="0"/>
              </a:spcAft>
              <a:buSzPts val="1800"/>
              <a:buAutoNum type="arabicPeriod"/>
            </a:pPr>
            <a:r>
              <a:rPr lang="en-US" sz="1800"/>
              <a:t>Train-Test Split:</a:t>
            </a:r>
            <a:r>
              <a:rPr lang="en-US" sz="1800"/>
              <a:t>Data is split into training (80%) and testing (20%) sets to evaluate model performance.</a:t>
            </a:r>
            <a:br>
              <a:rPr lang="en-US" sz="1800"/>
            </a:br>
            <a:endParaRPr sz="1800"/>
          </a:p>
          <a:p>
            <a:pPr indent="-342900" lvl="0" marL="457200" rtl="0" algn="just">
              <a:lnSpc>
                <a:spcPct val="100000"/>
              </a:lnSpc>
              <a:spcBef>
                <a:spcPts val="0"/>
              </a:spcBef>
              <a:spcAft>
                <a:spcPts val="0"/>
              </a:spcAft>
              <a:buSzPts val="1800"/>
              <a:buAutoNum type="arabicPeriod"/>
            </a:pPr>
            <a:r>
              <a:rPr lang="en-US" sz="1800"/>
              <a:t>Evaluation Metrics:</a:t>
            </a:r>
            <a:r>
              <a:rPr lang="en-US" sz="1800"/>
              <a:t>Model performance is evaluated using RMSE, MAE, and R² metrics to ensure reliability.</a:t>
            </a:r>
            <a:br>
              <a:rPr lang="en-US" sz="1800"/>
            </a:br>
            <a:endParaRPr sz="1800"/>
          </a:p>
          <a:p>
            <a:pPr indent="-342900" lvl="0" marL="457200" rtl="0" algn="just">
              <a:lnSpc>
                <a:spcPct val="100000"/>
              </a:lnSpc>
              <a:spcBef>
                <a:spcPts val="0"/>
              </a:spcBef>
              <a:spcAft>
                <a:spcPts val="0"/>
              </a:spcAft>
              <a:buSzPts val="1800"/>
              <a:buAutoNum type="arabicPeriod"/>
            </a:pPr>
            <a:r>
              <a:rPr lang="en-US" sz="1800"/>
              <a:t>Hyperparameter Tuning:</a:t>
            </a:r>
            <a:r>
              <a:rPr lang="en-US" sz="1800"/>
              <a:t>Hyperparameter tuning is performed to optimize model parameters for better accuracy.</a:t>
            </a:r>
            <a:br>
              <a:rPr lang="en-US" sz="1800"/>
            </a:br>
            <a:endParaRPr sz="1800"/>
          </a:p>
          <a:p>
            <a:pPr indent="-342900" lvl="0" marL="457200" rtl="0" algn="just">
              <a:lnSpc>
                <a:spcPct val="100000"/>
              </a:lnSpc>
              <a:spcBef>
                <a:spcPts val="0"/>
              </a:spcBef>
              <a:spcAft>
                <a:spcPts val="0"/>
              </a:spcAft>
              <a:buSzPts val="1800"/>
              <a:buAutoNum type="arabicPeriod"/>
            </a:pPr>
            <a:r>
              <a:rPr lang="en-US" sz="1800"/>
              <a:t>Model Storage: The trained model is stored as a .pkl file for integration with the dashboard.</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Performance Results</a:t>
            </a:r>
            <a:endParaRPr/>
          </a:p>
        </p:txBody>
      </p:sp>
      <p:sp>
        <p:nvSpPr>
          <p:cNvPr id="242" name="Google Shape;242;p37"/>
          <p:cNvSpPr txBox="1"/>
          <p:nvPr>
            <p:ph idx="1" type="body"/>
          </p:nvPr>
        </p:nvSpPr>
        <p:spPr>
          <a:xfrm>
            <a:off x="812800" y="2272625"/>
            <a:ext cx="5225100" cy="3344700"/>
          </a:xfrm>
          <a:prstGeom prst="rect">
            <a:avLst/>
          </a:prstGeom>
          <a:noFill/>
          <a:ln>
            <a:noFill/>
          </a:ln>
        </p:spPr>
        <p:txBody>
          <a:bodyPr anchorCtr="0" anchor="t" bIns="45700" lIns="91425" spcFirstLastPara="1" rIns="91425" wrap="square" tIns="45700">
            <a:normAutofit/>
          </a:bodyPr>
          <a:lstStyle/>
          <a:p>
            <a:pPr indent="0" lvl="0" marL="76200" rtl="0" algn="just">
              <a:lnSpc>
                <a:spcPct val="100000"/>
              </a:lnSpc>
              <a:spcBef>
                <a:spcPts val="480"/>
              </a:spcBef>
              <a:spcAft>
                <a:spcPts val="0"/>
              </a:spcAft>
              <a:buSzPts val="2400"/>
              <a:buNone/>
            </a:pPr>
            <a:r>
              <a:rPr lang="en-US"/>
              <a:t>Random Forest outperformed XGBoost in consistency, providing stable predictions suitable for groundwater level forecasting. </a:t>
            </a:r>
            <a:endParaRPr/>
          </a:p>
        </p:txBody>
      </p:sp>
      <p:sp>
        <p:nvSpPr>
          <p:cNvPr id="243" name="Google Shape;243;p37"/>
          <p:cNvSpPr txBox="1"/>
          <p:nvPr/>
        </p:nvSpPr>
        <p:spPr>
          <a:xfrm>
            <a:off x="6711050" y="2272625"/>
            <a:ext cx="5164500" cy="3344700"/>
          </a:xfrm>
          <a:prstGeom prst="rect">
            <a:avLst/>
          </a:prstGeom>
          <a:noFill/>
          <a:ln>
            <a:noFill/>
          </a:ln>
        </p:spPr>
        <p:txBody>
          <a:bodyPr anchorCtr="0" anchor="t" bIns="91425" lIns="91425" spcFirstLastPara="1" rIns="91425" wrap="square" tIns="91425">
            <a:noAutofit/>
          </a:bodyPr>
          <a:lstStyle/>
          <a:p>
            <a:pPr indent="0" lvl="0" marL="76200" rtl="0" algn="just">
              <a:spcBef>
                <a:spcPts val="480"/>
              </a:spcBef>
              <a:spcAft>
                <a:spcPts val="0"/>
              </a:spcAft>
              <a:buClr>
                <a:schemeClr val="dk1"/>
              </a:buClr>
              <a:buSzPts val="2400"/>
              <a:buFont typeface="Arial"/>
              <a:buNone/>
            </a:pPr>
            <a:r>
              <a:rPr lang="en-US" sz="2400">
                <a:solidFill>
                  <a:schemeClr val="dk1"/>
                </a:solidFill>
                <a:latin typeface="Verdana"/>
                <a:ea typeface="Verdana"/>
                <a:cs typeface="Verdana"/>
                <a:sym typeface="Verdana"/>
              </a:rPr>
              <a:t>The Random Forest model achieved a high R² score of approximately 0.89, indicating strong predictive accuracy.</a:t>
            </a:r>
            <a:endParaRPr sz="2400">
              <a:solidFill>
                <a:schemeClr val="dk1"/>
              </a:solidFill>
              <a:latin typeface="Verdana"/>
              <a:ea typeface="Verdana"/>
              <a:cs typeface="Verdana"/>
              <a:sym typeface="Verdana"/>
            </a:endParaRPr>
          </a:p>
          <a:p>
            <a:pPr indent="0" lvl="0" marL="0" rtl="0" algn="just">
              <a:spcBef>
                <a:spcPts val="0"/>
              </a:spcBef>
              <a:spcAft>
                <a:spcPts val="0"/>
              </a:spcAft>
              <a:buNone/>
            </a:pPr>
            <a:r>
              <a:t/>
            </a:r>
            <a:endParaRPr sz="2400">
              <a:solidFill>
                <a:schemeClr val="dk1"/>
              </a:solidFill>
              <a:latin typeface="Verdana"/>
              <a:ea typeface="Verdana"/>
              <a:cs typeface="Verdana"/>
              <a:sym typeface="Verdana"/>
            </a:endParaRPr>
          </a:p>
        </p:txBody>
      </p:sp>
      <p:sp>
        <p:nvSpPr>
          <p:cNvPr id="244" name="Google Shape;244;p37"/>
          <p:cNvSpPr txBox="1"/>
          <p:nvPr/>
        </p:nvSpPr>
        <p:spPr>
          <a:xfrm>
            <a:off x="812700" y="1220775"/>
            <a:ext cx="5225100" cy="757200"/>
          </a:xfrm>
          <a:prstGeom prst="rect">
            <a:avLst/>
          </a:prstGeom>
          <a:noFill/>
          <a:ln>
            <a:noFill/>
          </a:ln>
        </p:spPr>
        <p:txBody>
          <a:bodyPr anchorCtr="0" anchor="t" bIns="91425" lIns="91425" spcFirstLastPara="1" rIns="91425" wrap="square" tIns="91425">
            <a:noAutofit/>
          </a:bodyPr>
          <a:lstStyle/>
          <a:p>
            <a:pPr indent="0" lvl="0" marL="76200" rtl="0" algn="just">
              <a:spcBef>
                <a:spcPts val="480"/>
              </a:spcBef>
              <a:spcAft>
                <a:spcPts val="0"/>
              </a:spcAft>
              <a:buClr>
                <a:schemeClr val="dk1"/>
              </a:buClr>
              <a:buSzPts val="2400"/>
              <a:buFont typeface="Arial"/>
              <a:buNone/>
            </a:pPr>
            <a:r>
              <a:rPr lang="en-US" sz="2400">
                <a:solidFill>
                  <a:schemeClr val="dk1"/>
                </a:solidFill>
                <a:latin typeface="Verdana"/>
                <a:ea typeface="Verdana"/>
                <a:cs typeface="Verdana"/>
                <a:sym typeface="Verdana"/>
              </a:rPr>
              <a:t>Comparison with XGBoost</a:t>
            </a:r>
            <a:endParaRPr sz="2400">
              <a:solidFill>
                <a:schemeClr val="dk1"/>
              </a:solidFill>
              <a:latin typeface="Verdana"/>
              <a:ea typeface="Verdana"/>
              <a:cs typeface="Verdana"/>
              <a:sym typeface="Verdana"/>
            </a:endParaRPr>
          </a:p>
        </p:txBody>
      </p:sp>
      <p:sp>
        <p:nvSpPr>
          <p:cNvPr id="245" name="Google Shape;245;p37"/>
          <p:cNvSpPr txBox="1"/>
          <p:nvPr/>
        </p:nvSpPr>
        <p:spPr>
          <a:xfrm>
            <a:off x="6680750" y="1220775"/>
            <a:ext cx="5225100" cy="757200"/>
          </a:xfrm>
          <a:prstGeom prst="rect">
            <a:avLst/>
          </a:prstGeom>
          <a:noFill/>
          <a:ln>
            <a:noFill/>
          </a:ln>
        </p:spPr>
        <p:txBody>
          <a:bodyPr anchorCtr="0" anchor="t" bIns="91425" lIns="91425" spcFirstLastPara="1" rIns="91425" wrap="square" tIns="91425">
            <a:noAutofit/>
          </a:bodyPr>
          <a:lstStyle/>
          <a:p>
            <a:pPr indent="0" lvl="0" marL="76200" rtl="0" algn="just">
              <a:spcBef>
                <a:spcPts val="480"/>
              </a:spcBef>
              <a:spcAft>
                <a:spcPts val="0"/>
              </a:spcAft>
              <a:buClr>
                <a:schemeClr val="dk1"/>
              </a:buClr>
              <a:buSzPts val="2400"/>
              <a:buFont typeface="Arial"/>
              <a:buNone/>
            </a:pPr>
            <a:r>
              <a:rPr lang="en-US" sz="2400">
                <a:solidFill>
                  <a:schemeClr val="dk1"/>
                </a:solidFill>
                <a:latin typeface="Verdana"/>
                <a:ea typeface="Verdana"/>
                <a:cs typeface="Verdana"/>
                <a:sym typeface="Verdana"/>
              </a:rPr>
              <a:t>Random Forest Performance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8"/>
          <p:cNvSpPr txBox="1"/>
          <p:nvPr>
            <p:ph type="title"/>
          </p:nvPr>
        </p:nvSpPr>
        <p:spPr>
          <a:xfrm>
            <a:off x="762000" y="531663"/>
            <a:ext cx="10668000" cy="48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Verdana"/>
              <a:buNone/>
            </a:pPr>
            <a:r>
              <a:rPr lang="en-US"/>
              <a:t>Feature Importance Analysis</a:t>
            </a:r>
            <a:endParaRPr/>
          </a:p>
          <a:p>
            <a:pPr indent="0" lvl="0" marL="0" rtl="0" algn="l">
              <a:lnSpc>
                <a:spcPct val="100000"/>
              </a:lnSpc>
              <a:spcBef>
                <a:spcPts val="0"/>
              </a:spcBef>
              <a:spcAft>
                <a:spcPts val="0"/>
              </a:spcAft>
              <a:buClr>
                <a:srgbClr val="17365D"/>
              </a:buClr>
              <a:buSzPts val="2800"/>
              <a:buFont typeface="Verdana"/>
              <a:buNone/>
            </a:pPr>
            <a:r>
              <a:t/>
            </a:r>
            <a:endParaRPr/>
          </a:p>
        </p:txBody>
      </p:sp>
      <p:sp>
        <p:nvSpPr>
          <p:cNvPr id="251" name="Google Shape;251;p38"/>
          <p:cNvSpPr txBox="1"/>
          <p:nvPr>
            <p:ph idx="1" type="body"/>
          </p:nvPr>
        </p:nvSpPr>
        <p:spPr>
          <a:xfrm>
            <a:off x="812800" y="1019175"/>
            <a:ext cx="9695400" cy="4689600"/>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480"/>
              </a:spcBef>
              <a:spcAft>
                <a:spcPts val="0"/>
              </a:spcAft>
              <a:buSzPts val="1800"/>
              <a:buAutoNum type="arabicPeriod"/>
            </a:pPr>
            <a:r>
              <a:rPr lang="en-US" sz="1800"/>
              <a:t>Key Factors: </a:t>
            </a:r>
            <a:r>
              <a:rPr lang="en-US" sz="1800"/>
              <a:t>Rainfall, temperature, soil type, and population density are identified as key factors influencing groundwater levels.</a:t>
            </a:r>
            <a:br>
              <a:rPr lang="en-US" sz="1800"/>
            </a:br>
            <a:endParaRPr sz="1800"/>
          </a:p>
          <a:p>
            <a:pPr indent="-342900" lvl="0" marL="457200" rtl="0" algn="just">
              <a:lnSpc>
                <a:spcPct val="100000"/>
              </a:lnSpc>
              <a:spcBef>
                <a:spcPts val="0"/>
              </a:spcBef>
              <a:spcAft>
                <a:spcPts val="0"/>
              </a:spcAft>
              <a:buSzPts val="1800"/>
              <a:buAutoNum type="arabicPeriod"/>
            </a:pPr>
            <a:r>
              <a:rPr lang="en-US" sz="1800"/>
              <a:t>Temperature Influence: </a:t>
            </a:r>
            <a:r>
              <a:rPr lang="en-US" sz="1800"/>
              <a:t>Higher temperatures are associated with deeper groundwater levels, indicating evaporation effects.</a:t>
            </a:r>
            <a:br>
              <a:rPr lang="en-US" sz="1800"/>
            </a:br>
            <a:endParaRPr sz="1800"/>
          </a:p>
          <a:p>
            <a:pPr indent="-342900" lvl="0" marL="457200" rtl="0" algn="just">
              <a:lnSpc>
                <a:spcPct val="100000"/>
              </a:lnSpc>
              <a:spcBef>
                <a:spcPts val="0"/>
              </a:spcBef>
              <a:spcAft>
                <a:spcPts val="0"/>
              </a:spcAft>
              <a:buSzPts val="1800"/>
              <a:buAutoNum type="arabicPeriod"/>
            </a:pPr>
            <a:r>
              <a:rPr lang="en-US" sz="1800"/>
              <a:t>Rainfall Impact: </a:t>
            </a:r>
            <a:r>
              <a:rPr lang="en-US" sz="1800"/>
              <a:t>Rainfall is the strongest recharge driver, significantly impacting groundwater levels.</a:t>
            </a:r>
            <a:endParaRPr sz="1800"/>
          </a:p>
          <a:p>
            <a:pPr indent="0" lvl="0" marL="457200" rtl="0" algn="just">
              <a:lnSpc>
                <a:spcPct val="100000"/>
              </a:lnSpc>
              <a:spcBef>
                <a:spcPts val="480"/>
              </a:spcBef>
              <a:spcAft>
                <a:spcPts val="0"/>
              </a:spcAft>
              <a:buNone/>
            </a:pPr>
            <a:r>
              <a:t/>
            </a:r>
            <a:endParaRPr sz="1800"/>
          </a:p>
          <a:p>
            <a:pPr indent="-342900" lvl="0" marL="457200" rtl="0" algn="just">
              <a:lnSpc>
                <a:spcPct val="100000"/>
              </a:lnSpc>
              <a:spcBef>
                <a:spcPts val="480"/>
              </a:spcBef>
              <a:spcAft>
                <a:spcPts val="0"/>
              </a:spcAft>
              <a:buSzPts val="1800"/>
              <a:buAutoNum type="arabicPeriod"/>
            </a:pPr>
            <a:r>
              <a:rPr lang="en-US" sz="1800"/>
              <a:t>Visualization: Feature importance is visualized using the model's feature importances to provide clear insights.</a:t>
            </a: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Dashboard Overview</a:t>
            </a:r>
            <a:endParaRPr/>
          </a:p>
        </p:txBody>
      </p:sp>
      <p:sp>
        <p:nvSpPr>
          <p:cNvPr id="257" name="Google Shape;257;p39"/>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381000" lvl="0" marL="457200" rtl="0" algn="just">
              <a:lnSpc>
                <a:spcPct val="100000"/>
              </a:lnSpc>
              <a:spcBef>
                <a:spcPts val="480"/>
              </a:spcBef>
              <a:spcAft>
                <a:spcPts val="0"/>
              </a:spcAft>
              <a:buSzPts val="2400"/>
              <a:buAutoNum type="arabicPeriod"/>
            </a:pPr>
            <a:r>
              <a:rPr lang="en-US"/>
              <a:t>Built with Streamlit and Plotly: The interactive dashboard is built using Streamlit and Plotly for a user-friendly interface.</a:t>
            </a:r>
            <a:br>
              <a:rPr lang="en-US"/>
            </a:br>
            <a:endParaRPr/>
          </a:p>
          <a:p>
            <a:pPr indent="-381000" lvl="0" marL="457200" rtl="0" algn="just">
              <a:lnSpc>
                <a:spcPct val="100000"/>
              </a:lnSpc>
              <a:spcBef>
                <a:spcPts val="0"/>
              </a:spcBef>
              <a:spcAft>
                <a:spcPts val="0"/>
              </a:spcAft>
              <a:buSzPts val="2400"/>
              <a:buAutoNum type="arabicPeriod"/>
            </a:pPr>
            <a:r>
              <a:rPr lang="en-US"/>
              <a:t>Features: Users can select parameters, view real-time predictions, compare actual vs predicted values, and access charts and metric outputs.</a:t>
            </a:r>
            <a:br>
              <a:rPr lang="en-US"/>
            </a:br>
            <a:endParaRPr/>
          </a:p>
          <a:p>
            <a:pPr indent="-381000" lvl="0" marL="457200" rtl="0" algn="just">
              <a:lnSpc>
                <a:spcPct val="100000"/>
              </a:lnSpc>
              <a:spcBef>
                <a:spcPts val="0"/>
              </a:spcBef>
              <a:spcAft>
                <a:spcPts val="0"/>
              </a:spcAft>
              <a:buSzPts val="2400"/>
              <a:buAutoNum type="arabicPeriod"/>
            </a:pPr>
            <a:r>
              <a:rPr lang="en-US"/>
              <a:t>Actionable Insights: The dashboard provides actionable insights for stakeholders to make informed decisions on groundwater management.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ph type="title"/>
          </p:nvPr>
        </p:nvSpPr>
        <p:spPr>
          <a:xfrm>
            <a:off x="762000" y="405763"/>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Prediction Module Demo</a:t>
            </a:r>
            <a:endParaRPr/>
          </a:p>
        </p:txBody>
      </p:sp>
      <p:sp>
        <p:nvSpPr>
          <p:cNvPr id="263" name="Google Shape;263;p40"/>
          <p:cNvSpPr txBox="1"/>
          <p:nvPr>
            <p:ph idx="1" type="body"/>
          </p:nvPr>
        </p:nvSpPr>
        <p:spPr>
          <a:xfrm>
            <a:off x="812800" y="1019175"/>
            <a:ext cx="9695400" cy="4689600"/>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480"/>
              </a:spcBef>
              <a:spcAft>
                <a:spcPts val="0"/>
              </a:spcAft>
              <a:buSzPts val="1800"/>
              <a:buAutoNum type="arabicPeriod"/>
            </a:pPr>
            <a:r>
              <a:rPr lang="en-US" sz="1800"/>
              <a:t>User Inputs: </a:t>
            </a:r>
            <a:r>
              <a:rPr lang="en-US" sz="1800"/>
              <a:t>Users can input soil type, rainfall, temperature, population, and coordinates into the dashboard.</a:t>
            </a:r>
            <a:br>
              <a:rPr lang="en-US" sz="1800"/>
            </a:br>
            <a:endParaRPr sz="1800"/>
          </a:p>
          <a:p>
            <a:pPr indent="-342900" lvl="0" marL="457200" rtl="0" algn="just">
              <a:lnSpc>
                <a:spcPct val="100000"/>
              </a:lnSpc>
              <a:spcBef>
                <a:spcPts val="0"/>
              </a:spcBef>
              <a:spcAft>
                <a:spcPts val="0"/>
              </a:spcAft>
              <a:buSzPts val="1800"/>
              <a:buAutoNum type="arabicPeriod"/>
            </a:pPr>
            <a:r>
              <a:rPr lang="en-US" sz="1800"/>
              <a:t>Output: </a:t>
            </a:r>
            <a:r>
              <a:rPr lang="en-US" sz="1800"/>
              <a:t>The dashboard outputs the predicted groundwater level along with a visualization for easy interpretation.</a:t>
            </a:r>
            <a:br>
              <a:rPr lang="en-US" sz="1800"/>
            </a:br>
            <a:endParaRPr sz="1800"/>
          </a:p>
          <a:p>
            <a:pPr indent="-342900" lvl="0" marL="457200" rtl="0" algn="just">
              <a:lnSpc>
                <a:spcPct val="100000"/>
              </a:lnSpc>
              <a:spcBef>
                <a:spcPts val="0"/>
              </a:spcBef>
              <a:spcAft>
                <a:spcPts val="0"/>
              </a:spcAft>
              <a:buSzPts val="1800"/>
              <a:buAutoNum type="arabicPeriod"/>
            </a:pPr>
            <a:r>
              <a:rPr lang="en-US" sz="1800"/>
              <a:t>Real-Time Prediction: </a:t>
            </a:r>
            <a:r>
              <a:rPr lang="en-US" sz="1800"/>
              <a:t> Real-time prediction capabilities allow users to forecast groundwater levels based on current conditions.</a:t>
            </a:r>
            <a:br>
              <a:rPr lang="en-US" sz="1800"/>
            </a:br>
            <a:endParaRPr sz="1800"/>
          </a:p>
          <a:p>
            <a:pPr indent="-342900" lvl="0" marL="457200" rtl="0" algn="just">
              <a:lnSpc>
                <a:spcPct val="100000"/>
              </a:lnSpc>
              <a:spcBef>
                <a:spcPts val="0"/>
              </a:spcBef>
              <a:spcAft>
                <a:spcPts val="0"/>
              </a:spcAft>
              <a:buSzPts val="1800"/>
              <a:buAutoNum type="arabicPeriod"/>
            </a:pPr>
            <a:r>
              <a:rPr lang="en-US" sz="1800"/>
              <a:t>Visualization: Visualizations enhance understanding, making it easier for stakeholders to grasp groundwater level trends.</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Heatmap Visualization</a:t>
            </a:r>
            <a:endParaRPr/>
          </a:p>
        </p:txBody>
      </p:sp>
      <p:sp>
        <p:nvSpPr>
          <p:cNvPr id="269" name="Google Shape;269;p4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381000" lvl="0" marL="457200" rtl="0" algn="just">
              <a:lnSpc>
                <a:spcPct val="100000"/>
              </a:lnSpc>
              <a:spcBef>
                <a:spcPts val="480"/>
              </a:spcBef>
              <a:spcAft>
                <a:spcPts val="0"/>
              </a:spcAft>
              <a:buSzPts val="2400"/>
              <a:buAutoNum type="arabicPeriod"/>
            </a:pPr>
            <a:r>
              <a:rPr lang="en-US"/>
              <a:t>Spatial Distribution: The heatmap visualizes the spatial distribution of predicted groundwater levels across regions. </a:t>
            </a:r>
            <a:br>
              <a:rPr lang="en-US"/>
            </a:br>
            <a:endParaRPr/>
          </a:p>
          <a:p>
            <a:pPr indent="-381000" lvl="0" marL="457200" rtl="0" algn="just">
              <a:lnSpc>
                <a:spcPct val="100000"/>
              </a:lnSpc>
              <a:spcBef>
                <a:spcPts val="0"/>
              </a:spcBef>
              <a:spcAft>
                <a:spcPts val="0"/>
              </a:spcAft>
              <a:buSzPts val="2400"/>
              <a:buAutoNum type="arabicPeriod"/>
            </a:pPr>
            <a:r>
              <a:rPr lang="en-US"/>
              <a:t>Regional Insights: It highlights low-level and high-level regions, providing valuable insights for government and planning committees.</a:t>
            </a:r>
            <a:br>
              <a:rPr lang="en-US"/>
            </a:br>
            <a:endParaRPr/>
          </a:p>
          <a:p>
            <a:pPr indent="-381000" lvl="0" marL="457200" rtl="0" algn="just">
              <a:lnSpc>
                <a:spcPct val="100000"/>
              </a:lnSpc>
              <a:spcBef>
                <a:spcPts val="0"/>
              </a:spcBef>
              <a:spcAft>
                <a:spcPts val="0"/>
              </a:spcAft>
              <a:buSzPts val="2400"/>
              <a:buAutoNum type="arabicPeriod"/>
            </a:pPr>
            <a:r>
              <a:rPr lang="en-US"/>
              <a:t>Screenshot: A screenshot of the heatmap is included to demonstrate the visualization capabilities of the dashboard.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762000" y="36378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Insights &amp; Interpretation</a:t>
            </a:r>
            <a:endParaRPr/>
          </a:p>
        </p:txBody>
      </p:sp>
      <p:sp>
        <p:nvSpPr>
          <p:cNvPr id="275" name="Google Shape;275;p42"/>
          <p:cNvSpPr txBox="1"/>
          <p:nvPr>
            <p:ph idx="1" type="body"/>
          </p:nvPr>
        </p:nvSpPr>
        <p:spPr>
          <a:xfrm>
            <a:off x="812800" y="1019175"/>
            <a:ext cx="9695400" cy="4689600"/>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480"/>
              </a:spcBef>
              <a:spcAft>
                <a:spcPts val="0"/>
              </a:spcAft>
              <a:buSzPts val="1800"/>
              <a:buAutoNum type="arabicPeriod"/>
            </a:pPr>
            <a:r>
              <a:rPr lang="en-US" sz="1800"/>
              <a:t>Rainfall Recharge: </a:t>
            </a:r>
            <a:r>
              <a:rPr lang="en-US" sz="1800"/>
              <a:t>Rainfall continues to be the strongest recharge driver, highlighting its critical role in groundwater replenishment. </a:t>
            </a:r>
            <a:br>
              <a:rPr lang="en-US" sz="1800"/>
            </a:br>
            <a:endParaRPr sz="1800"/>
          </a:p>
          <a:p>
            <a:pPr indent="-342900" lvl="0" marL="457200" rtl="0" algn="just">
              <a:lnSpc>
                <a:spcPct val="100000"/>
              </a:lnSpc>
              <a:spcBef>
                <a:spcPts val="0"/>
              </a:spcBef>
              <a:spcAft>
                <a:spcPts val="0"/>
              </a:spcAft>
              <a:buSzPts val="1800"/>
              <a:buAutoNum type="arabicPeriod"/>
            </a:pPr>
            <a:r>
              <a:rPr lang="en-US" sz="1800"/>
              <a:t>Population Impact: </a:t>
            </a:r>
            <a:r>
              <a:rPr lang="en-US" sz="1800"/>
              <a:t>Human density negatively correlates with water table height, reflecting the strain of population on groundwater resources. </a:t>
            </a:r>
            <a:br>
              <a:rPr lang="en-US" sz="1800"/>
            </a:br>
            <a:endParaRPr sz="1800"/>
          </a:p>
          <a:p>
            <a:pPr indent="-342900" lvl="0" marL="457200" rtl="0" algn="just">
              <a:lnSpc>
                <a:spcPct val="100000"/>
              </a:lnSpc>
              <a:spcBef>
                <a:spcPts val="0"/>
              </a:spcBef>
              <a:spcAft>
                <a:spcPts val="0"/>
              </a:spcAft>
              <a:buSzPts val="1800"/>
              <a:buAutoNum type="arabicPeriod"/>
            </a:pPr>
            <a:r>
              <a:rPr lang="en-US" sz="1800"/>
              <a:t>Temperature Effects: </a:t>
            </a:r>
            <a:r>
              <a:rPr lang="en-US" sz="1800"/>
              <a:t> High-temperature zones show deeper groundwater levels, indicating the impact of evaporation and water loss. </a:t>
            </a:r>
            <a:br>
              <a:rPr lang="en-US" sz="1800"/>
            </a:br>
            <a:endParaRPr sz="1800"/>
          </a:p>
          <a:p>
            <a:pPr indent="-342900" lvl="0" marL="457200" rtl="0" algn="just">
              <a:lnSpc>
                <a:spcPct val="100000"/>
              </a:lnSpc>
              <a:spcBef>
                <a:spcPts val="0"/>
              </a:spcBef>
              <a:spcAft>
                <a:spcPts val="0"/>
              </a:spcAft>
              <a:buSzPts val="1800"/>
              <a:buAutoNum type="arabicPeriod"/>
            </a:pPr>
            <a:r>
              <a:rPr lang="en-US" sz="1800"/>
              <a:t>Soil Type Influence:Soil type significantly impacts recharge capability, emphasizing the importance of soil properties in groundwater management.</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Applications</a:t>
            </a:r>
            <a:endParaRPr/>
          </a:p>
        </p:txBody>
      </p:sp>
      <p:sp>
        <p:nvSpPr>
          <p:cNvPr id="281" name="Google Shape;281;p43"/>
          <p:cNvSpPr txBox="1"/>
          <p:nvPr>
            <p:ph idx="1" type="body"/>
          </p:nvPr>
        </p:nvSpPr>
        <p:spPr>
          <a:xfrm>
            <a:off x="854450" y="1551800"/>
            <a:ext cx="6066600" cy="42642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480"/>
              </a:spcBef>
              <a:spcAft>
                <a:spcPts val="0"/>
              </a:spcAft>
              <a:buSzPts val="1800"/>
              <a:buAutoNum type="arabicPeriod"/>
            </a:pPr>
            <a:r>
              <a:rPr lang="en-US" sz="1800"/>
              <a:t>Government Use: The system supports taluk-level water planning, recharge zone identification, and evidence-based policy decisions for sustainable water management. </a:t>
            </a:r>
            <a:br>
              <a:rPr lang="en-US" sz="1800"/>
            </a:br>
            <a:endParaRPr sz="1800"/>
          </a:p>
          <a:p>
            <a:pPr indent="-342900" lvl="0" marL="457200" rtl="0" algn="l">
              <a:lnSpc>
                <a:spcPct val="100000"/>
              </a:lnSpc>
              <a:spcBef>
                <a:spcPts val="0"/>
              </a:spcBef>
              <a:spcAft>
                <a:spcPts val="0"/>
              </a:spcAft>
              <a:buSzPts val="1800"/>
              <a:buAutoNum type="arabicPeriod"/>
            </a:pPr>
            <a:r>
              <a:rPr lang="en-US" sz="1800"/>
              <a:t>Agricultural Benefits: </a:t>
            </a:r>
            <a:r>
              <a:rPr lang="en-US" sz="1800"/>
              <a:t> Farmers can use the system for irrigation scheduling and drought preparedness, optimizing water use and crop yields. </a:t>
            </a:r>
            <a:br>
              <a:rPr lang="en-US" sz="1800"/>
            </a:br>
            <a:endParaRPr sz="1800"/>
          </a:p>
          <a:p>
            <a:pPr indent="-342900" lvl="0" marL="457200" rtl="0" algn="l">
              <a:lnSpc>
                <a:spcPct val="100000"/>
              </a:lnSpc>
              <a:spcBef>
                <a:spcPts val="0"/>
              </a:spcBef>
              <a:spcAft>
                <a:spcPts val="0"/>
              </a:spcAft>
              <a:buSzPts val="1800"/>
              <a:buAutoNum type="arabicPeriod"/>
            </a:pPr>
            <a:r>
              <a:rPr lang="en-US" sz="1800"/>
              <a:t>Research Applications: Researchers can leverage the system for environmental studies and developing water conservation strategies.</a:t>
            </a:r>
            <a:endParaRPr sz="1800"/>
          </a:p>
        </p:txBody>
      </p:sp>
      <p:pic>
        <p:nvPicPr>
          <p:cNvPr descr="Government Use&#10;The system supports taluk-level water planning, recharge zone identification, and evidence-based policy decisions for sustainable water management.&#10;Agricultural BenefitsFarmers can use the system for irrigation scheduling and drought preparedness, optimizing water use and crop yields.&#10;&#10;Research Applications&#10;Researchers can leverage the system for environmental studies and developing water conservation strategies.&#10; GENERATE ANYTHING RELATED TO IT IMAGE" id="282" name="Google Shape;282;p43"/>
          <p:cNvPicPr preferRelativeResize="0"/>
          <p:nvPr/>
        </p:nvPicPr>
        <p:blipFill rotWithShape="1">
          <a:blip r:embed="rId3">
            <a:alphaModFix/>
          </a:blip>
          <a:srcRect b="25398" l="0" r="0" t="16373"/>
          <a:stretch/>
        </p:blipFill>
        <p:spPr>
          <a:xfrm>
            <a:off x="6921050" y="1551800"/>
            <a:ext cx="4711124" cy="35353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4"/>
          <p:cNvSpPr txBox="1"/>
          <p:nvPr>
            <p:ph type="title"/>
          </p:nvPr>
        </p:nvSpPr>
        <p:spPr>
          <a:xfrm>
            <a:off x="762000" y="36378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Limitations</a:t>
            </a:r>
            <a:endParaRPr/>
          </a:p>
        </p:txBody>
      </p:sp>
      <p:sp>
        <p:nvSpPr>
          <p:cNvPr id="288" name="Google Shape;288;p44"/>
          <p:cNvSpPr txBox="1"/>
          <p:nvPr>
            <p:ph idx="1" type="body"/>
          </p:nvPr>
        </p:nvSpPr>
        <p:spPr>
          <a:xfrm>
            <a:off x="812800" y="1019175"/>
            <a:ext cx="9695400" cy="4689600"/>
          </a:xfrm>
          <a:prstGeom prst="rect">
            <a:avLst/>
          </a:prstGeom>
          <a:noFill/>
          <a:ln>
            <a:noFill/>
          </a:ln>
        </p:spPr>
        <p:txBody>
          <a:bodyPr anchorCtr="0" anchor="t" bIns="45700" lIns="91425" spcFirstLastPara="1" rIns="91425" wrap="square" tIns="45700">
            <a:noAutofit/>
          </a:bodyPr>
          <a:lstStyle/>
          <a:p>
            <a:pPr indent="-342900" lvl="0" marL="457200" rtl="0" algn="just">
              <a:lnSpc>
                <a:spcPct val="100000"/>
              </a:lnSpc>
              <a:spcBef>
                <a:spcPts val="480"/>
              </a:spcBef>
              <a:spcAft>
                <a:spcPts val="0"/>
              </a:spcAft>
              <a:buSzPts val="1800"/>
              <a:buAutoNum type="arabicPeriod"/>
            </a:pPr>
            <a:r>
              <a:rPr lang="en-US" sz="1800"/>
              <a:t>Data Timeliness: </a:t>
            </a:r>
            <a:r>
              <a:rPr lang="en-US" sz="1800"/>
              <a:t> The dataset is not real-time, relying on annual updates which may limit immediate response capabilities.</a:t>
            </a:r>
            <a:br>
              <a:rPr lang="en-US" sz="1800"/>
            </a:br>
            <a:endParaRPr sz="1800"/>
          </a:p>
          <a:p>
            <a:pPr indent="-342900" lvl="0" marL="457200" rtl="0" algn="just">
              <a:lnSpc>
                <a:spcPct val="100000"/>
              </a:lnSpc>
              <a:spcBef>
                <a:spcPts val="0"/>
              </a:spcBef>
              <a:spcAft>
                <a:spcPts val="0"/>
              </a:spcAft>
              <a:buSzPts val="1800"/>
              <a:buAutoNum type="arabicPeriod"/>
            </a:pPr>
            <a:r>
              <a:rPr lang="en-US" sz="1800"/>
              <a:t>Climate Integration: The model lacks integration with long-term climate projections, limiting its scope for future planning.</a:t>
            </a:r>
            <a:br>
              <a:rPr lang="en-US" sz="1800"/>
            </a:br>
            <a:endParaRPr sz="1800"/>
          </a:p>
          <a:p>
            <a:pPr indent="-342900" lvl="0" marL="457200" rtl="0" algn="just">
              <a:lnSpc>
                <a:spcPct val="100000"/>
              </a:lnSpc>
              <a:spcBef>
                <a:spcPts val="0"/>
              </a:spcBef>
              <a:spcAft>
                <a:spcPts val="0"/>
              </a:spcAft>
              <a:buSzPts val="1800"/>
              <a:buAutoNum type="arabicPeriod"/>
            </a:pPr>
            <a:r>
              <a:rPr lang="en-US" sz="1800"/>
              <a:t>P</a:t>
            </a:r>
            <a:r>
              <a:rPr lang="en-US" sz="1800"/>
              <a:t>rediction Granularity: </a:t>
            </a:r>
            <a:r>
              <a:rPr lang="en-US" sz="1800"/>
              <a:t>Predictions are not specific to individual borewells, focusing on district/taluk levels instead. </a:t>
            </a:r>
            <a:br>
              <a:rPr lang="en-US" sz="1800"/>
            </a:br>
            <a:endParaRPr sz="1800"/>
          </a:p>
          <a:p>
            <a:pPr indent="-342900" lvl="0" marL="457200" rtl="0" algn="just">
              <a:lnSpc>
                <a:spcPct val="100000"/>
              </a:lnSpc>
              <a:spcBef>
                <a:spcPts val="0"/>
              </a:spcBef>
              <a:spcAft>
                <a:spcPts val="0"/>
              </a:spcAft>
              <a:buSzPts val="1800"/>
              <a:buAutoNum type="arabicPeriod"/>
            </a:pPr>
            <a:r>
              <a:rPr lang="en-US" sz="1800"/>
              <a:t>Data Quality Dependency: Model performance depends on the quality of data from external sources, which may introduce inaccuracies.</a:t>
            </a:r>
            <a:endParaRPr sz="1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t>Conclusion &amp; Future Scope</a:t>
            </a:r>
            <a:endParaRPr/>
          </a:p>
        </p:txBody>
      </p:sp>
      <p:sp>
        <p:nvSpPr>
          <p:cNvPr id="294" name="Google Shape;294;p45"/>
          <p:cNvSpPr txBox="1"/>
          <p:nvPr>
            <p:ph idx="1" type="body"/>
          </p:nvPr>
        </p:nvSpPr>
        <p:spPr>
          <a:xfrm>
            <a:off x="812800" y="2272625"/>
            <a:ext cx="5225100" cy="3344700"/>
          </a:xfrm>
          <a:prstGeom prst="rect">
            <a:avLst/>
          </a:prstGeom>
          <a:noFill/>
          <a:ln>
            <a:noFill/>
          </a:ln>
        </p:spPr>
        <p:txBody>
          <a:bodyPr anchorCtr="0" anchor="t" bIns="45700" lIns="91425" spcFirstLastPara="1" rIns="91425" wrap="square" tIns="45700">
            <a:normAutofit/>
          </a:bodyPr>
          <a:lstStyle/>
          <a:p>
            <a:pPr indent="0" lvl="0" marL="76200" rtl="0" algn="just">
              <a:lnSpc>
                <a:spcPct val="100000"/>
              </a:lnSpc>
              <a:spcBef>
                <a:spcPts val="480"/>
              </a:spcBef>
              <a:spcAft>
                <a:spcPts val="0"/>
              </a:spcAft>
              <a:buSzPts val="2400"/>
              <a:buNone/>
            </a:pPr>
            <a:r>
              <a:rPr lang="en-US"/>
              <a:t>The project successfully developed a reliable groundwater prediction model integrated into an interactive dashboard, providing actionable insights for sustainable water management.</a:t>
            </a:r>
            <a:endParaRPr/>
          </a:p>
        </p:txBody>
      </p:sp>
      <p:sp>
        <p:nvSpPr>
          <p:cNvPr id="295" name="Google Shape;295;p45"/>
          <p:cNvSpPr txBox="1"/>
          <p:nvPr/>
        </p:nvSpPr>
        <p:spPr>
          <a:xfrm>
            <a:off x="6711050" y="2272625"/>
            <a:ext cx="5164500" cy="3344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400">
                <a:solidFill>
                  <a:schemeClr val="dk1"/>
                </a:solidFill>
                <a:latin typeface="Verdana"/>
                <a:ea typeface="Verdana"/>
                <a:cs typeface="Verdana"/>
                <a:sym typeface="Verdana"/>
              </a:rPr>
              <a:t>Future work includes IoT sensor integration for real-time updates, LSTM time-series predictions, mobile app integration, and statewide deployment as an API.</a:t>
            </a:r>
            <a:endParaRPr sz="2400">
              <a:solidFill>
                <a:schemeClr val="dk1"/>
              </a:solidFill>
              <a:latin typeface="Verdana"/>
              <a:ea typeface="Verdana"/>
              <a:cs typeface="Verdana"/>
              <a:sym typeface="Verdana"/>
            </a:endParaRPr>
          </a:p>
        </p:txBody>
      </p:sp>
      <p:sp>
        <p:nvSpPr>
          <p:cNvPr id="296" name="Google Shape;296;p45"/>
          <p:cNvSpPr txBox="1"/>
          <p:nvPr/>
        </p:nvSpPr>
        <p:spPr>
          <a:xfrm>
            <a:off x="812700" y="1220775"/>
            <a:ext cx="5225100" cy="757200"/>
          </a:xfrm>
          <a:prstGeom prst="rect">
            <a:avLst/>
          </a:prstGeom>
          <a:noFill/>
          <a:ln>
            <a:noFill/>
          </a:ln>
        </p:spPr>
        <p:txBody>
          <a:bodyPr anchorCtr="0" anchor="t" bIns="91425" lIns="91425" spcFirstLastPara="1" rIns="91425" wrap="square" tIns="91425">
            <a:noAutofit/>
          </a:bodyPr>
          <a:lstStyle/>
          <a:p>
            <a:pPr indent="0" lvl="0" marL="76200" rtl="0" algn="just">
              <a:spcBef>
                <a:spcPts val="480"/>
              </a:spcBef>
              <a:spcAft>
                <a:spcPts val="0"/>
              </a:spcAft>
              <a:buClr>
                <a:schemeClr val="dk1"/>
              </a:buClr>
              <a:buSzPts val="2400"/>
              <a:buFont typeface="Arial"/>
              <a:buNone/>
            </a:pPr>
            <a:r>
              <a:rPr lang="en-US" sz="2400">
                <a:solidFill>
                  <a:schemeClr val="dk1"/>
                </a:solidFill>
                <a:latin typeface="Verdana"/>
                <a:ea typeface="Verdana"/>
                <a:cs typeface="Verdana"/>
                <a:sym typeface="Verdana"/>
              </a:rPr>
              <a:t>Conclusion </a:t>
            </a:r>
            <a:endParaRPr/>
          </a:p>
        </p:txBody>
      </p:sp>
      <p:sp>
        <p:nvSpPr>
          <p:cNvPr id="297" name="Google Shape;297;p45"/>
          <p:cNvSpPr txBox="1"/>
          <p:nvPr/>
        </p:nvSpPr>
        <p:spPr>
          <a:xfrm>
            <a:off x="6680750" y="1220775"/>
            <a:ext cx="5225100" cy="757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US" sz="2400">
                <a:solidFill>
                  <a:schemeClr val="dk1"/>
                </a:solidFill>
                <a:latin typeface="Verdana"/>
                <a:ea typeface="Verdana"/>
                <a:cs typeface="Verdana"/>
                <a:sym typeface="Verdana"/>
              </a:rPr>
              <a:t>Future Scope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Github Link</a:t>
            </a:r>
            <a:endParaRPr>
              <a:latin typeface="Cambria"/>
              <a:ea typeface="Cambria"/>
              <a:cs typeface="Cambria"/>
              <a:sym typeface="Cambria"/>
            </a:endParaRPr>
          </a:p>
        </p:txBody>
      </p:sp>
      <p:sp>
        <p:nvSpPr>
          <p:cNvPr id="303" name="Google Shape;303;p46"/>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304" name="Google Shape;304;p46"/>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305" name="Google Shape;305;p46"/>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mbria"/>
                <a:ea typeface="Cambria"/>
                <a:cs typeface="Cambria"/>
                <a:sym typeface="Cambria"/>
              </a:rPr>
              <a:t>A public GitHub repository will be maintained.</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mbria"/>
                <a:ea typeface="Cambria"/>
                <a:cs typeface="Cambria"/>
                <a:sym typeface="Cambria"/>
              </a:rPr>
              <a:t>Link: </a:t>
            </a:r>
            <a:r>
              <a:rPr b="0" i="0" lang="en-US" sz="2400" u="sng" cap="none" strike="noStrike">
                <a:solidFill>
                  <a:schemeClr val="hlink"/>
                </a:solidFill>
                <a:latin typeface="Cambria"/>
                <a:ea typeface="Cambria"/>
                <a:cs typeface="Cambria"/>
                <a:sym typeface="Cambria"/>
                <a:hlinkClick r:id="rId3"/>
              </a:rPr>
              <a:t>GitHub Link</a:t>
            </a:r>
            <a:r>
              <a:rPr b="0" i="0" lang="en-US" sz="2400" u="none" cap="none" strike="noStrike">
                <a:solidFill>
                  <a:schemeClr val="dk1"/>
                </a:solidFill>
                <a:latin typeface="Cambria"/>
                <a:ea typeface="Cambria"/>
                <a:cs typeface="Cambria"/>
                <a:sym typeface="Cambria"/>
              </a:rPr>
              <a:t> </a:t>
            </a:r>
            <a:endParaRPr b="0" i="0" sz="2400" u="none" cap="none" strike="noStrike">
              <a:solidFill>
                <a:schemeClr val="dk1"/>
              </a:solidFill>
              <a:latin typeface="Cambria"/>
              <a:ea typeface="Cambria"/>
              <a:cs typeface="Cambria"/>
              <a:sym typeface="Cambri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47"/>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